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53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71168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0B2AF771-2B8E-9584-C1EC-87FE618B1228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90646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BR" sz="1000">
                <a:solidFill>
                  <a:srgbClr val="000000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General Business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73968"/>
            <a:ext cx="18365724" cy="10360968"/>
          </a:xfrm>
          <a:prstGeom prst="rect">
            <a:avLst/>
          </a:prstGeom>
          <a:solidFill>
            <a:srgbClr val="1E3A5F">
              <a:alpha val="6000"/>
            </a:srgbClr>
          </a:solidFill>
          <a:ln/>
        </p:spPr>
        <p:txBody>
          <a:bodyPr/>
          <a:lstStyle/>
          <a:p>
            <a:endParaRPr lang="pt-BR" dirty="0"/>
          </a:p>
        </p:txBody>
      </p:sp>
      <p:sp>
        <p:nvSpPr>
          <p:cNvPr id="3" name="Text 1"/>
          <p:cNvSpPr/>
          <p:nvPr/>
        </p:nvSpPr>
        <p:spPr>
          <a:xfrm>
            <a:off x="914400" y="838200"/>
            <a:ext cx="5179310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144" dirty="0">
                <a:solidFill>
                  <a:srgbClr val="6B6F7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DESAFIO TÉCNICO · DATA ENGINEER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3239244"/>
            <a:ext cx="14716125" cy="1830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7200" b="1" kern="0" spc="-252" dirty="0">
                <a:solidFill>
                  <a:srgbClr val="1517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ETL de </a:t>
            </a:r>
            <a:r>
              <a:rPr lang="en-US" sz="7200" b="1" kern="0" spc="-252" dirty="0" err="1">
                <a:solidFill>
                  <a:srgbClr val="1517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sensores</a:t>
            </a:r>
            <a:r>
              <a:rPr lang="en-US" sz="7200" b="1" kern="0" spc="-252" dirty="0">
                <a:solidFill>
                  <a:srgbClr val="1517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</a:t>
            </a:r>
            <a:r>
              <a:rPr lang="en-US" sz="7200" b="1" kern="0" spc="-252" dirty="0" err="1">
                <a:solidFill>
                  <a:srgbClr val="1517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desafio</a:t>
            </a:r>
            <a:r>
              <a:rPr lang="en-US" sz="7200" b="1" kern="0" spc="-252" dirty="0">
                <a:solidFill>
                  <a:srgbClr val="1517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Bradesco </a:t>
            </a:r>
            <a:r>
              <a:rPr lang="en-US" sz="7200" b="1" kern="0" spc="-252" dirty="0" err="1">
                <a:solidFill>
                  <a:srgbClr val="1517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em</a:t>
            </a:r>
            <a:r>
              <a:rPr lang="en-US" sz="7200" b="1" kern="0" spc="-252" dirty="0">
                <a:solidFill>
                  <a:srgbClr val="1517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</a:t>
            </a:r>
            <a:r>
              <a:rPr lang="en-US" sz="7200" b="1" kern="0" spc="-252" dirty="0">
                <a:solidFill>
                  <a:srgbClr val="1E3A5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PySpark / Databricks</a:t>
            </a:r>
            <a:r>
              <a:rPr lang="en-US" sz="7200" b="1" kern="0" spc="-252" dirty="0">
                <a:solidFill>
                  <a:srgbClr val="1517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914400" y="5412432"/>
            <a:ext cx="11772900" cy="963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700" dirty="0">
                <a:solidFill>
                  <a:srgbClr val="3A3D4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Pipeline em camadas </a:t>
            </a:r>
            <a:r>
              <a:rPr lang="en-US" sz="2700" dirty="0">
                <a:solidFill>
                  <a:srgbClr val="3A3D4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RAW → STAGING → FINAL </a:t>
            </a:r>
            <a:r>
              <a:rPr lang="en-US" sz="2700" dirty="0">
                <a:solidFill>
                  <a:srgbClr val="3A3D4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schema explícito, decisões justificadas por evidência no dado.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8407747"/>
            <a:ext cx="16459200" cy="9525"/>
          </a:xfrm>
          <a:prstGeom prst="rect">
            <a:avLst/>
          </a:prstGeom>
          <a:solidFill>
            <a:srgbClr val="D9D4C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914400" y="8683972"/>
            <a:ext cx="5337048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144" dirty="0">
                <a:solidFill>
                  <a:srgbClr val="6B6F7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AUTOR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9110663"/>
            <a:ext cx="5337048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dirty="0">
                <a:solidFill>
                  <a:srgbClr val="1517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Felipe Piva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6553200" y="8683972"/>
            <a:ext cx="5337048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144" dirty="0">
                <a:solidFill>
                  <a:srgbClr val="6B6F7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STACK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553200" y="9110663"/>
            <a:ext cx="5337048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dirty="0">
                <a:solidFill>
                  <a:srgbClr val="1517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PySpark · Databricks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2192000" y="8683972"/>
            <a:ext cx="5337048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144" dirty="0">
                <a:solidFill>
                  <a:srgbClr val="6B6F7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ENTREGÁVEL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192000" y="9110663"/>
            <a:ext cx="5337048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dirty="0">
                <a:solidFill>
                  <a:srgbClr val="1517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Notebook único · 4 CSVs unificados</a:t>
            </a:r>
            <a:endParaRPr lang="en-US" sz="2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341090"/>
            <a:ext cx="16459200" cy="9525"/>
          </a:xfrm>
          <a:prstGeom prst="rect">
            <a:avLst/>
          </a:prstGeom>
          <a:solidFill>
            <a:srgbClr val="D9D4C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914400" y="838200"/>
            <a:ext cx="5726412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6B6F7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 / 05 — Ingestão &amp; decisões técnicas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458950" y="838200"/>
            <a:ext cx="3002090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6B6F7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Camada RAW → STAGING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884015"/>
            <a:ext cx="16952976" cy="6581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650" b="1" kern="0" spc="-93" dirty="0">
                <a:solidFill>
                  <a:srgbClr val="1517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Quatro CSVs, um schema, proveniência preservada.</a:t>
            </a:r>
            <a:endParaRPr lang="en-US" sz="4650" dirty="0"/>
          </a:p>
        </p:txBody>
      </p:sp>
      <p:sp>
        <p:nvSpPr>
          <p:cNvPr id="6" name="Shape 4"/>
          <p:cNvSpPr/>
          <p:nvPr/>
        </p:nvSpPr>
        <p:spPr>
          <a:xfrm>
            <a:off x="914400" y="3037433"/>
            <a:ext cx="8000851" cy="1363712"/>
          </a:xfrm>
          <a:prstGeom prst="roundRect">
            <a:avLst>
              <a:gd name="adj" fmla="val 419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914400" y="4391620"/>
            <a:ext cx="8000851" cy="9525"/>
          </a:xfrm>
          <a:prstGeom prst="rect">
            <a:avLst/>
          </a:prstGeom>
          <a:solidFill>
            <a:srgbClr val="D9D4C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914400" y="3037433"/>
            <a:ext cx="8000851" cy="9525"/>
          </a:xfrm>
          <a:prstGeom prst="rect">
            <a:avLst/>
          </a:prstGeom>
          <a:solidFill>
            <a:srgbClr val="D9D4C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914400" y="3037433"/>
            <a:ext cx="38100" cy="1363712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8905726" y="3037433"/>
            <a:ext cx="9525" cy="1363712"/>
          </a:xfrm>
          <a:prstGeom prst="rect">
            <a:avLst/>
          </a:prstGeom>
          <a:solidFill>
            <a:srgbClr val="D9D4C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1219200" y="3525887"/>
            <a:ext cx="1981200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100" kern="0" spc="84" dirty="0">
                <a:solidFill>
                  <a:srgbClr val="1E3A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RAW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3352800" y="3256508"/>
            <a:ext cx="5444813" cy="963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>
              <a:lnSpc>
                <a:spcPct val="135000"/>
              </a:lnSpc>
            </a:pPr>
            <a:r>
              <a:rPr lang="en-US" sz="1800" dirty="0">
                <a:solidFill>
                  <a:srgbClr val="3A3D4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 CSVs lidos com </a:t>
            </a:r>
            <a:r>
              <a:rPr lang="en-US" sz="1800" dirty="0">
                <a:solidFill>
                  <a:srgbClr val="3A3D4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StructType </a:t>
            </a:r>
            <a:r>
              <a:rPr lang="en-US" sz="1800" dirty="0">
                <a:solidFill>
                  <a:srgbClr val="3A3D4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manual </a:t>
            </a:r>
            <a:r>
              <a:rPr lang="en-US" sz="1800" dirty="0">
                <a:solidFill>
                  <a:srgbClr val="6B6F7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Phones × {accel, gyro} + Watch × {accel, gyro} + </a:t>
            </a:r>
            <a:r>
              <a:rPr lang="en-US" dirty="0" err="1">
                <a:solidFill>
                  <a:srgbClr val="3A3D4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unionByName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866900" y="4572595"/>
            <a:ext cx="19050" cy="209550"/>
          </a:xfrm>
          <a:prstGeom prst="rect">
            <a:avLst/>
          </a:prstGeom>
          <a:solidFill>
            <a:srgbClr val="D9D4C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914400" y="4953595"/>
            <a:ext cx="8000851" cy="1055191"/>
          </a:xfrm>
          <a:prstGeom prst="roundRect">
            <a:avLst>
              <a:gd name="adj" fmla="val 541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914400" y="5999262"/>
            <a:ext cx="8000851" cy="9525"/>
          </a:xfrm>
          <a:prstGeom prst="rect">
            <a:avLst/>
          </a:prstGeom>
          <a:solidFill>
            <a:srgbClr val="D9D4C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914400" y="4953595"/>
            <a:ext cx="8000851" cy="9525"/>
          </a:xfrm>
          <a:prstGeom prst="rect">
            <a:avLst/>
          </a:prstGeom>
          <a:solidFill>
            <a:srgbClr val="D9D4C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914400" y="4953595"/>
            <a:ext cx="38100" cy="1055191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8905726" y="4953595"/>
            <a:ext cx="9525" cy="1055191"/>
          </a:xfrm>
          <a:prstGeom prst="rect">
            <a:avLst/>
          </a:prstGeom>
          <a:solidFill>
            <a:srgbClr val="D9D4C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1219200" y="5287863"/>
            <a:ext cx="1981200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100" kern="0" spc="84" dirty="0">
                <a:solidFill>
                  <a:srgbClr val="1E3A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STAGING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3352800" y="5172670"/>
            <a:ext cx="5444813" cy="655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dirty="0" err="1">
                <a:solidFill>
                  <a:srgbClr val="3A3D4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Investigação</a:t>
            </a:r>
            <a:r>
              <a:rPr lang="en-US" sz="1800" dirty="0">
                <a:solidFill>
                  <a:srgbClr val="3A3D4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de </a:t>
            </a:r>
            <a:r>
              <a:rPr lang="en-US" sz="1800" dirty="0" err="1">
                <a:solidFill>
                  <a:srgbClr val="3A3D4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problemas</a:t>
            </a:r>
            <a:r>
              <a:rPr lang="en-US" sz="1800" dirty="0">
                <a:solidFill>
                  <a:srgbClr val="3A3D4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e </a:t>
            </a:r>
            <a:r>
              <a:rPr lang="en-US" sz="1800" dirty="0" err="1">
                <a:solidFill>
                  <a:srgbClr val="3A3D4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soluções</a:t>
            </a:r>
            <a:r>
              <a:rPr lang="en-US" sz="1800" dirty="0">
                <a:solidFill>
                  <a:srgbClr val="3A3D4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</a:t>
            </a:r>
            <a:r>
              <a:rPr lang="en-US" sz="1800" dirty="0" err="1">
                <a:solidFill>
                  <a:srgbClr val="3A3D4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possíveis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866900" y="6180237"/>
            <a:ext cx="19050" cy="209550"/>
          </a:xfrm>
          <a:prstGeom prst="rect">
            <a:avLst/>
          </a:prstGeom>
          <a:solidFill>
            <a:srgbClr val="D9D4C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914400" y="6561237"/>
            <a:ext cx="8000851" cy="1363712"/>
          </a:xfrm>
          <a:prstGeom prst="roundRect">
            <a:avLst>
              <a:gd name="adj" fmla="val 419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Shape 21"/>
          <p:cNvSpPr/>
          <p:nvPr/>
        </p:nvSpPr>
        <p:spPr>
          <a:xfrm>
            <a:off x="914400" y="7915424"/>
            <a:ext cx="8000851" cy="9525"/>
          </a:xfrm>
          <a:prstGeom prst="rect">
            <a:avLst/>
          </a:prstGeom>
          <a:solidFill>
            <a:srgbClr val="D9D4C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Shape 22"/>
          <p:cNvSpPr/>
          <p:nvPr/>
        </p:nvSpPr>
        <p:spPr>
          <a:xfrm>
            <a:off x="914400" y="6561237"/>
            <a:ext cx="8000851" cy="9525"/>
          </a:xfrm>
          <a:prstGeom prst="rect">
            <a:avLst/>
          </a:prstGeom>
          <a:solidFill>
            <a:srgbClr val="D9D4C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914400" y="6561237"/>
            <a:ext cx="38100" cy="1363712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8905726" y="6561237"/>
            <a:ext cx="9525" cy="1363712"/>
          </a:xfrm>
          <a:prstGeom prst="rect">
            <a:avLst/>
          </a:prstGeom>
          <a:solidFill>
            <a:srgbClr val="D9D4C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1219200" y="7049691"/>
            <a:ext cx="1981200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100" kern="0" spc="84" dirty="0">
                <a:solidFill>
                  <a:srgbClr val="1E3A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FINAL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3352800" y="6780312"/>
            <a:ext cx="5444813" cy="963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dirty="0">
                <a:solidFill>
                  <a:srgbClr val="3A3D4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Tratamento, normalização e flags </a:t>
            </a:r>
            <a:r>
              <a:rPr lang="en-US" sz="1800" dirty="0">
                <a:solidFill>
                  <a:srgbClr val="6B6F7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timestamps legíveis · quarentena · sumarização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753451" y="3037433"/>
            <a:ext cx="7848600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144" dirty="0">
                <a:solidFill>
                  <a:srgbClr val="6B6F7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DECISÕES TÉCNICAS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0020151" y="3597473"/>
            <a:ext cx="7581900" cy="7846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1517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Schema explícito </a:t>
            </a:r>
            <a:r>
              <a:rPr lang="en-US" sz="2100" dirty="0">
                <a:solidFill>
                  <a:srgbClr val="1517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— </a:t>
            </a:r>
            <a:r>
              <a:rPr lang="en-US" sz="2100" dirty="0">
                <a:solidFill>
                  <a:srgbClr val="3A3D4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inferSchema </a:t>
            </a:r>
            <a:r>
              <a:rPr lang="en-US" sz="2100" dirty="0">
                <a:solidFill>
                  <a:srgbClr val="1517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proibido pelo enunciado; evita dupla leitura.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10020151" y="4553545"/>
            <a:ext cx="7581900" cy="11578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1517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Timestamps como </a:t>
            </a:r>
            <a:r>
              <a:rPr lang="en-US" sz="2100" b="1" dirty="0">
                <a:solidFill>
                  <a:srgbClr val="3A3D4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Long </a:t>
            </a:r>
            <a:r>
              <a:rPr lang="en-US" sz="2100" b="1" dirty="0">
                <a:solidFill>
                  <a:srgbClr val="1517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cru </a:t>
            </a:r>
            <a:r>
              <a:rPr lang="en-US" sz="2100" dirty="0">
                <a:solidFill>
                  <a:srgbClr val="1517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— </a:t>
            </a:r>
            <a:r>
              <a:rPr lang="en-US" sz="2100" dirty="0">
                <a:solidFill>
                  <a:srgbClr val="3A3D4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Arrival_Time </a:t>
            </a:r>
            <a:r>
              <a:rPr lang="en-US" sz="2100" dirty="0">
                <a:solidFill>
                  <a:srgbClr val="1517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 </a:t>
            </a:r>
            <a:r>
              <a:rPr lang="en-US" sz="2100" dirty="0">
                <a:solidFill>
                  <a:srgbClr val="3A3D4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Creation_Time </a:t>
            </a:r>
            <a:r>
              <a:rPr lang="en-US" sz="2100" dirty="0">
                <a:solidFill>
                  <a:srgbClr val="1517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entram como epoch; conversão fica no tratamento.</a:t>
            </a:r>
            <a:endParaRPr lang="en-US" sz="2100" dirty="0"/>
          </a:p>
        </p:txBody>
      </p:sp>
      <p:sp>
        <p:nvSpPr>
          <p:cNvPr id="32" name="Text 30"/>
          <p:cNvSpPr/>
          <p:nvPr/>
        </p:nvSpPr>
        <p:spPr>
          <a:xfrm>
            <a:off x="10020151" y="5882878"/>
            <a:ext cx="7581900" cy="7846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100" b="1" dirty="0" err="1">
                <a:solidFill>
                  <a:srgbClr val="1517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Rastreabilidade</a:t>
            </a:r>
            <a:r>
              <a:rPr lang="en-US" sz="2100" b="1" dirty="0">
                <a:solidFill>
                  <a:srgbClr val="1517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desde a ingestão </a:t>
            </a:r>
            <a:r>
              <a:rPr lang="en-US" sz="2100" dirty="0">
                <a:solidFill>
                  <a:srgbClr val="1517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— toda linha sabe de qual arquivo, device e sensor veio.</a:t>
            </a:r>
            <a:endParaRPr lang="en-US" sz="2100" dirty="0"/>
          </a:p>
        </p:txBody>
      </p:sp>
      <p:sp>
        <p:nvSpPr>
          <p:cNvPr id="33" name="Shape 31"/>
          <p:cNvSpPr/>
          <p:nvPr/>
        </p:nvSpPr>
        <p:spPr>
          <a:xfrm>
            <a:off x="9753451" y="7010400"/>
            <a:ext cx="7620000" cy="2544812"/>
          </a:xfrm>
          <a:prstGeom prst="roundRect">
            <a:avLst>
              <a:gd name="adj" fmla="val 2246"/>
            </a:avLst>
          </a:prstGeom>
          <a:solidFill>
            <a:srgbClr val="DDE3E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4" name="Text 32"/>
          <p:cNvSpPr/>
          <p:nvPr/>
        </p:nvSpPr>
        <p:spPr>
          <a:xfrm>
            <a:off x="10058251" y="7277100"/>
            <a:ext cx="7220712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144" dirty="0">
                <a:solidFill>
                  <a:srgbClr val="1E3A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VOLUME TOTAL LIDO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10172551" y="7703790"/>
            <a:ext cx="7010400" cy="1584722"/>
          </a:xfrm>
          <a:prstGeom prst="roundRect">
            <a:avLst>
              <a:gd name="adj" fmla="val 2404"/>
            </a:avLst>
          </a:prstGeom>
          <a:solidFill>
            <a:srgbClr val="F2E4D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6" name="Text 34"/>
          <p:cNvSpPr/>
          <p:nvPr/>
        </p:nvSpPr>
        <p:spPr>
          <a:xfrm>
            <a:off x="10172551" y="7743974"/>
            <a:ext cx="6896100" cy="1544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45000"/>
              </a:lnSpc>
              <a:buNone/>
            </a:pPr>
            <a:r>
              <a:rPr lang="en-US" sz="4200" kern="0" spc="84" dirty="0">
                <a:solidFill>
                  <a:srgbClr val="B865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33.741.500 </a:t>
            </a:r>
          </a:p>
          <a:p>
            <a:pPr marL="0" indent="0" algn="ctr">
              <a:lnSpc>
                <a:spcPct val="145000"/>
              </a:lnSpc>
              <a:buNone/>
            </a:pPr>
            <a:r>
              <a:rPr lang="en-US" sz="4200" kern="0" spc="84" dirty="0" err="1">
                <a:solidFill>
                  <a:srgbClr val="B865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Registros</a:t>
            </a:r>
            <a:endParaRPr lang="en-US" sz="4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341090"/>
            <a:ext cx="16459200" cy="9525"/>
          </a:xfrm>
          <a:prstGeom prst="rect">
            <a:avLst/>
          </a:prstGeom>
          <a:solidFill>
            <a:srgbClr val="D9D4C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914400" y="838200"/>
            <a:ext cx="7384122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6B6F7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/ 05 — Problemas encontrados </a:t>
            </a:r>
            <a:r>
              <a:rPr lang="en-US" sz="1800" kern="0" spc="72" dirty="0">
                <a:solidFill>
                  <a:srgbClr val="1E3A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 slide principal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350996" y="838200"/>
            <a:ext cx="7233282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6B6F7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Investiguei o dado. Não assumi que estava limpo.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14400" y="2150715"/>
            <a:ext cx="8124825" cy="3773537"/>
          </a:xfrm>
          <a:prstGeom prst="roundRect">
            <a:avLst>
              <a:gd name="adj" fmla="val 1514"/>
            </a:avLst>
          </a:prstGeom>
          <a:solidFill>
            <a:srgbClr val="FFFFFF"/>
          </a:solidFill>
          <a:ln w="9525">
            <a:solidFill>
              <a:srgbClr val="D9D4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190625" y="2388840"/>
            <a:ext cx="7799546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144" dirty="0">
                <a:solidFill>
                  <a:srgbClr val="1E3A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PROBLEMA 01 · COLUNA TARGET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90625" y="2815530"/>
            <a:ext cx="7799546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50" kern="0" spc="-19" dirty="0">
                <a:solidFill>
                  <a:srgbClr val="1517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Gt </a:t>
            </a:r>
            <a:r>
              <a:rPr lang="en-US" sz="1950" kern="0" spc="-19" dirty="0" err="1">
                <a:solidFill>
                  <a:srgbClr val="15171A"/>
                </a:solidFill>
                <a:latin typeface="IBM Plex Sans" pitchFamily="34" charset="0"/>
                <a:ea typeface="IBM Plex Mono" pitchFamily="34" charset="-122"/>
                <a:cs typeface="IBM Plex Mono" pitchFamily="34" charset="-120"/>
              </a:rPr>
              <a:t>registra</a:t>
            </a:r>
            <a:r>
              <a:rPr lang="en-US" sz="1950" kern="0" spc="-19" dirty="0">
                <a:solidFill>
                  <a:srgbClr val="1517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nulos reais com a string literal </a:t>
            </a:r>
            <a:r>
              <a:rPr lang="en-US" sz="1950" kern="0" spc="-19" dirty="0">
                <a:solidFill>
                  <a:srgbClr val="1517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"null"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152599" y="3131641"/>
            <a:ext cx="199652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F7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String "null":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084889" y="3118911"/>
            <a:ext cx="2164267" cy="381000"/>
          </a:xfrm>
          <a:prstGeom prst="roundRect">
            <a:avLst>
              <a:gd name="adj" fmla="val 10000"/>
            </a:avLst>
          </a:prstGeom>
          <a:solidFill>
            <a:srgbClr val="F2E4D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3182858" y="3169741"/>
            <a:ext cx="206629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algn="ctr">
              <a:lnSpc>
                <a:spcPct val="150000"/>
              </a:lnSpc>
            </a:pPr>
            <a:r>
              <a:rPr lang="en-US" kern="0" spc="36" dirty="0">
                <a:solidFill>
                  <a:srgbClr val="B865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4.643.613 </a:t>
            </a:r>
            <a:r>
              <a:rPr lang="en-US" kern="0" spc="36" dirty="0" err="1">
                <a:solidFill>
                  <a:srgbClr val="B865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registros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52599" y="3509997"/>
            <a:ext cx="720507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F7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Transição entre atividades grava "null" como texto.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190625" y="4693741"/>
            <a:ext cx="7572375" cy="9525"/>
          </a:xfrm>
          <a:prstGeom prst="rect">
            <a:avLst/>
          </a:prstGeom>
          <a:solidFill>
            <a:srgbClr val="D9D4C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1190625" y="4817566"/>
            <a:ext cx="7799546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1E3A5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Tratamento </a:t>
            </a:r>
            <a:r>
              <a:rPr lang="en-US" sz="1800" dirty="0">
                <a:solidFill>
                  <a:srgbClr val="1517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— normalizar </a:t>
            </a:r>
            <a:r>
              <a:rPr lang="en-US" sz="1800" dirty="0">
                <a:solidFill>
                  <a:srgbClr val="1517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"null" → None </a:t>
            </a:r>
            <a:r>
              <a:rPr lang="en-US" sz="1800" dirty="0">
                <a:solidFill>
                  <a:srgbClr val="1517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antes de qualquer agregação por atividade.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248775" y="2150715"/>
            <a:ext cx="8124825" cy="3773537"/>
          </a:xfrm>
          <a:prstGeom prst="roundRect">
            <a:avLst>
              <a:gd name="adj" fmla="val 1514"/>
            </a:avLst>
          </a:prstGeom>
          <a:solidFill>
            <a:srgbClr val="FFFFFF"/>
          </a:solidFill>
          <a:ln w="9525">
            <a:solidFill>
              <a:srgbClr val="D9D4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9525000" y="2388840"/>
            <a:ext cx="7799546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144" dirty="0">
                <a:solidFill>
                  <a:srgbClr val="1E3A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PROBLEMA 02 ·QUALIDADE DO CREATION_TIME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525000" y="2815530"/>
            <a:ext cx="8124824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50" kern="0" spc="-19" dirty="0" err="1">
                <a:solidFill>
                  <a:srgbClr val="1517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Qualidade</a:t>
            </a:r>
            <a:r>
              <a:rPr lang="en-US" sz="1950" kern="0" spc="-19" dirty="0">
                <a:solidFill>
                  <a:srgbClr val="1517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de </a:t>
            </a:r>
            <a:r>
              <a:rPr lang="en-US" sz="1950" kern="0" spc="-19" dirty="0" err="1">
                <a:solidFill>
                  <a:srgbClr val="1517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Creation_Time</a:t>
            </a:r>
            <a:r>
              <a:rPr lang="en-US" sz="1950" kern="0" spc="-19" dirty="0">
                <a:solidFill>
                  <a:srgbClr val="1517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n</a:t>
            </a:r>
            <a:r>
              <a:rPr lang="pt-BR" sz="1950" kern="0" spc="-19" dirty="0" err="1">
                <a:solidFill>
                  <a:srgbClr val="1517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ão</a:t>
            </a:r>
            <a:r>
              <a:rPr lang="pt-BR" sz="1950" kern="0" spc="-19" dirty="0">
                <a:solidFill>
                  <a:srgbClr val="1517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confiável  como referência temporal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9525000" y="3264991"/>
            <a:ext cx="7799546" cy="1143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6B6F7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Enunciado diz: </a:t>
            </a:r>
            <a:r>
              <a:rPr lang="en-US" sz="1800" dirty="0">
                <a:solidFill>
                  <a:srgbClr val="3A3D4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nanossegundos </a:t>
            </a:r>
            <a:r>
              <a:rPr lang="en-US" sz="1800" dirty="0">
                <a:solidFill>
                  <a:srgbClr val="6B6F7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Na prática: </a:t>
            </a:r>
            <a:r>
              <a:rPr lang="pt-BR" dirty="0">
                <a:solidFill>
                  <a:srgbClr val="3A3D44"/>
                </a:solidFill>
                <a:latin typeface="IBM Plex Mono" pitchFamily="34" charset="0"/>
              </a:rPr>
              <a:t>a magnitude varia em 5 faixas de dígitos (12, 13, 14, 15, 19), inclusive no mesmo device</a:t>
            </a:r>
            <a:endParaRPr lang="en-US" dirty="0">
              <a:solidFill>
                <a:srgbClr val="3A3D44"/>
              </a:solidFill>
              <a:latin typeface="IBM Plex Mono" pitchFamily="34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9525000" y="4693741"/>
            <a:ext cx="7572375" cy="9525"/>
          </a:xfrm>
          <a:prstGeom prst="rect">
            <a:avLst/>
          </a:prstGeom>
          <a:solidFill>
            <a:srgbClr val="D9D4C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9525000" y="4817566"/>
            <a:ext cx="7799546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1E3A5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Tratamento </a:t>
            </a:r>
            <a:r>
              <a:rPr lang="en-US" sz="1800" dirty="0">
                <a:solidFill>
                  <a:srgbClr val="1517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— </a:t>
            </a:r>
            <a:r>
              <a:rPr lang="pt-BR" dirty="0">
                <a:solidFill>
                  <a:srgbClr val="15171A"/>
                </a:solidFill>
                <a:latin typeface="IBM Plex Sans" pitchFamily="34" charset="0"/>
              </a:rPr>
              <a:t>testei normalização por dígitos e rejeitei com evidência: alinhou a escala mas não o valor (81% seguiram com </a:t>
            </a:r>
            <a:r>
              <a:rPr lang="pt-BR" dirty="0" err="1">
                <a:solidFill>
                  <a:srgbClr val="15171A"/>
                </a:solidFill>
                <a:latin typeface="IBM Plex Sans" pitchFamily="34" charset="0"/>
              </a:rPr>
              <a:t>Arrival</a:t>
            </a:r>
            <a:r>
              <a:rPr lang="pt-BR" dirty="0">
                <a:solidFill>
                  <a:srgbClr val="15171A"/>
                </a:solidFill>
                <a:latin typeface="IBM Plex Sans" pitchFamily="34" charset="0"/>
              </a:rPr>
              <a:t> &lt; </a:t>
            </a:r>
            <a:r>
              <a:rPr lang="pt-BR" dirty="0" err="1">
                <a:solidFill>
                  <a:srgbClr val="15171A"/>
                </a:solidFill>
                <a:latin typeface="IBM Plex Sans" pitchFamily="34" charset="0"/>
              </a:rPr>
              <a:t>Creation</a:t>
            </a:r>
            <a:r>
              <a:rPr lang="pt-BR" dirty="0">
                <a:solidFill>
                  <a:srgbClr val="15171A"/>
                </a:solidFill>
                <a:latin typeface="IBM Plex Sans" pitchFamily="34" charset="0"/>
              </a:rPr>
              <a:t>).</a:t>
            </a:r>
            <a:endParaRPr lang="en-US" dirty="0">
              <a:solidFill>
                <a:srgbClr val="15171A"/>
              </a:solidFill>
              <a:latin typeface="IBM Plex Sans" pitchFamily="34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914400" y="6133802"/>
            <a:ext cx="8124825" cy="3773537"/>
          </a:xfrm>
          <a:prstGeom prst="roundRect">
            <a:avLst>
              <a:gd name="adj" fmla="val 1514"/>
            </a:avLst>
          </a:prstGeom>
          <a:solidFill>
            <a:srgbClr val="FFFFFF"/>
          </a:solidFill>
          <a:ln w="9525">
            <a:solidFill>
              <a:srgbClr val="D9D4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1190625" y="6371927"/>
            <a:ext cx="7799546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144" dirty="0">
                <a:solidFill>
                  <a:srgbClr val="1E3A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PROBLEMA 03 · DUPLICATAS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190625" y="6798618"/>
            <a:ext cx="7799546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50" kern="0" spc="-19" dirty="0">
                <a:solidFill>
                  <a:srgbClr val="1517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Duplicatas por </a:t>
            </a:r>
            <a:r>
              <a:rPr lang="en-US" sz="1950" kern="0" spc="-19" dirty="0">
                <a:solidFill>
                  <a:srgbClr val="1517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chave de negócio</a:t>
            </a:r>
            <a:r>
              <a:rPr lang="en-US" sz="1950" kern="0" spc="-19" dirty="0">
                <a:solidFill>
                  <a:srgbClr val="1517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não só linha exata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1190625" y="7267129"/>
            <a:ext cx="89922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F7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Chave: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2150864" y="7267129"/>
            <a:ext cx="565099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F7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User+Device+Creation_Time_ms+source_file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190625" y="7629079"/>
            <a:ext cx="158502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F7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Duplicatas: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2836664" y="7590979"/>
            <a:ext cx="1787723" cy="381000"/>
          </a:xfrm>
          <a:prstGeom prst="roundRect">
            <a:avLst>
              <a:gd name="adj" fmla="val 10000"/>
            </a:avLst>
          </a:prstGeom>
          <a:solidFill>
            <a:srgbClr val="F2E4D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/>
          <p:nvPr/>
        </p:nvSpPr>
        <p:spPr>
          <a:xfrm>
            <a:off x="2912863" y="7581454"/>
            <a:ext cx="163532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algn="ctr">
              <a:lnSpc>
                <a:spcPct val="150000"/>
              </a:lnSpc>
            </a:pPr>
            <a:r>
              <a:rPr lang="pt-BR" sz="1400" kern="0" spc="36" dirty="0">
                <a:solidFill>
                  <a:srgbClr val="B8651A"/>
                </a:solidFill>
                <a:latin typeface="IBM Plex Mono" pitchFamily="34" charset="0"/>
              </a:rPr>
              <a:t>3.014</a:t>
            </a:r>
            <a:r>
              <a:rPr lang="pt-BR" dirty="0"/>
              <a:t> </a:t>
            </a:r>
            <a:r>
              <a:rPr lang="pt-BR" sz="1400" kern="0" spc="36" dirty="0">
                <a:solidFill>
                  <a:srgbClr val="B8651A"/>
                </a:solidFill>
                <a:latin typeface="IBM Plex Mono" pitchFamily="34" charset="0"/>
              </a:rPr>
              <a:t>registros</a:t>
            </a:r>
            <a:endParaRPr lang="en-US" sz="1400" kern="0" spc="36" dirty="0">
              <a:solidFill>
                <a:srgbClr val="B8651A"/>
              </a:solidFill>
              <a:latin typeface="IBM Plex Mono" pitchFamily="34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1190625" y="8676829"/>
            <a:ext cx="7572375" cy="9525"/>
          </a:xfrm>
          <a:prstGeom prst="rect">
            <a:avLst/>
          </a:prstGeom>
          <a:solidFill>
            <a:srgbClr val="D9D4C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1190625" y="8800654"/>
            <a:ext cx="7799546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1E3A5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Tratamento </a:t>
            </a:r>
            <a:r>
              <a:rPr lang="en-US" sz="1800" dirty="0">
                <a:solidFill>
                  <a:srgbClr val="1517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— </a:t>
            </a:r>
            <a:r>
              <a:rPr lang="en-US" sz="1800" dirty="0">
                <a:solidFill>
                  <a:srgbClr val="1517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dropDuplicates </a:t>
            </a:r>
            <a:r>
              <a:rPr lang="en-US" sz="1800" dirty="0">
                <a:solidFill>
                  <a:srgbClr val="1517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sobre a chave composta, não sobre todas as colunas.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9273141" y="6085210"/>
            <a:ext cx="8124825" cy="3773537"/>
          </a:xfrm>
          <a:prstGeom prst="roundRect">
            <a:avLst>
              <a:gd name="adj" fmla="val 151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4" name="Shape 32"/>
          <p:cNvSpPr/>
          <p:nvPr/>
        </p:nvSpPr>
        <p:spPr>
          <a:xfrm>
            <a:off x="9248775" y="9897814"/>
            <a:ext cx="8124825" cy="9525"/>
          </a:xfrm>
          <a:prstGeom prst="rect">
            <a:avLst/>
          </a:prstGeom>
          <a:solidFill>
            <a:srgbClr val="D9D4C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5" name="Shape 33"/>
          <p:cNvSpPr/>
          <p:nvPr/>
        </p:nvSpPr>
        <p:spPr>
          <a:xfrm>
            <a:off x="9248775" y="6133802"/>
            <a:ext cx="8124825" cy="9525"/>
          </a:xfrm>
          <a:prstGeom prst="rect">
            <a:avLst/>
          </a:prstGeom>
          <a:solidFill>
            <a:srgbClr val="D9D4C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6" name="Shape 34"/>
          <p:cNvSpPr/>
          <p:nvPr/>
        </p:nvSpPr>
        <p:spPr>
          <a:xfrm>
            <a:off x="9248775" y="6133802"/>
            <a:ext cx="38100" cy="3773537"/>
          </a:xfrm>
          <a:prstGeom prst="rect">
            <a:avLst/>
          </a:prstGeom>
          <a:solidFill>
            <a:srgbClr val="B8651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7" name="Shape 35"/>
          <p:cNvSpPr/>
          <p:nvPr/>
        </p:nvSpPr>
        <p:spPr>
          <a:xfrm>
            <a:off x="17364075" y="6133802"/>
            <a:ext cx="9525" cy="3773537"/>
          </a:xfrm>
          <a:prstGeom prst="rect">
            <a:avLst/>
          </a:prstGeom>
          <a:solidFill>
            <a:srgbClr val="D9D4C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8" name="Text 36"/>
          <p:cNvSpPr/>
          <p:nvPr/>
        </p:nvSpPr>
        <p:spPr>
          <a:xfrm>
            <a:off x="9553575" y="6371927"/>
            <a:ext cx="7770114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>
              <a:lnSpc>
                <a:spcPct val="145000"/>
              </a:lnSpc>
            </a:pPr>
            <a:r>
              <a:rPr lang="en-US" sz="1800" kern="0" spc="144" dirty="0">
                <a:solidFill>
                  <a:srgbClr val="B865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PROBLEMA 04 · SINCRONIZAÇÃO </a:t>
            </a:r>
            <a:r>
              <a:rPr lang="pt-BR" kern="0" spc="144" dirty="0" err="1">
                <a:solidFill>
                  <a:srgbClr val="B8651A"/>
                </a:solidFill>
                <a:latin typeface="IBM Plex Mono" pitchFamily="34" charset="0"/>
              </a:rPr>
              <a:t>Arrival</a:t>
            </a:r>
            <a:r>
              <a:rPr lang="pt-BR" kern="0" spc="144" dirty="0">
                <a:solidFill>
                  <a:srgbClr val="B8651A"/>
                </a:solidFill>
                <a:latin typeface="IBM Plex Mono" pitchFamily="34" charset="0"/>
              </a:rPr>
              <a:t> &lt; </a:t>
            </a:r>
            <a:r>
              <a:rPr lang="pt-BR" kern="0" spc="144" dirty="0" err="1">
                <a:solidFill>
                  <a:srgbClr val="B8651A"/>
                </a:solidFill>
                <a:latin typeface="IBM Plex Mono" pitchFamily="34" charset="0"/>
              </a:rPr>
              <a:t>Creation</a:t>
            </a:r>
            <a:endParaRPr lang="en-US" kern="0" spc="144" dirty="0">
              <a:solidFill>
                <a:srgbClr val="B8651A"/>
              </a:solidFill>
              <a:latin typeface="IBM Plex Mono" pitchFamily="34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9553575" y="6798618"/>
            <a:ext cx="7770114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>
              <a:lnSpc>
                <a:spcPct val="120000"/>
              </a:lnSpc>
            </a:pPr>
            <a:r>
              <a:rPr lang="pt-BR" sz="2100" kern="0" spc="-19" dirty="0">
                <a:solidFill>
                  <a:srgbClr val="15171A"/>
                </a:solidFill>
                <a:latin typeface="IBM Plex Mono" pitchFamily="34" charset="0"/>
              </a:rPr>
              <a:t>não</a:t>
            </a:r>
            <a:r>
              <a:rPr lang="pt-BR" sz="2000" dirty="0"/>
              <a:t> </a:t>
            </a:r>
            <a:r>
              <a:rPr lang="pt-BR" sz="2100" kern="0" spc="-19" dirty="0">
                <a:solidFill>
                  <a:srgbClr val="15171A"/>
                </a:solidFill>
                <a:latin typeface="IBM Plex Mono" pitchFamily="34" charset="0"/>
              </a:rPr>
              <a:t>prova</a:t>
            </a:r>
            <a:r>
              <a:rPr lang="pt-BR" sz="2000" dirty="0"/>
              <a:t> </a:t>
            </a:r>
            <a:r>
              <a:rPr lang="pt-BR" sz="2100" kern="0" spc="-19" dirty="0">
                <a:solidFill>
                  <a:srgbClr val="15171A"/>
                </a:solidFill>
                <a:latin typeface="IBM Plex Mono" pitchFamily="34" charset="0"/>
              </a:rPr>
              <a:t>dessincronia</a:t>
            </a:r>
            <a:r>
              <a:rPr lang="pt-BR" sz="2000" dirty="0"/>
              <a:t> — </a:t>
            </a:r>
            <a:r>
              <a:rPr lang="pt-BR" sz="2100" kern="0" spc="-19" dirty="0">
                <a:solidFill>
                  <a:srgbClr val="15171A"/>
                </a:solidFill>
                <a:latin typeface="IBM Plex Mono" pitchFamily="34" charset="0"/>
              </a:rPr>
              <a:t>prova</a:t>
            </a:r>
            <a:r>
              <a:rPr lang="pt-BR" sz="2000" dirty="0"/>
              <a:t> </a:t>
            </a:r>
            <a:r>
              <a:rPr lang="pt-BR" sz="2100" kern="0" spc="-19" dirty="0">
                <a:solidFill>
                  <a:srgbClr val="15171A"/>
                </a:solidFill>
                <a:latin typeface="IBM Plex Mono" pitchFamily="34" charset="0"/>
              </a:rPr>
              <a:t>campo</a:t>
            </a:r>
            <a:r>
              <a:rPr lang="pt-BR" sz="2000" dirty="0"/>
              <a:t> </a:t>
            </a:r>
            <a:r>
              <a:rPr lang="pt-BR" sz="2100" kern="0" spc="-19" dirty="0">
                <a:solidFill>
                  <a:srgbClr val="15171A"/>
                </a:solidFill>
                <a:latin typeface="IBM Plex Mono" pitchFamily="34" charset="0"/>
              </a:rPr>
              <a:t>podre</a:t>
            </a:r>
            <a:endParaRPr lang="en-US" sz="2100" kern="0" spc="-19" dirty="0">
              <a:solidFill>
                <a:srgbClr val="15171A"/>
              </a:solidFill>
              <a:latin typeface="IBM Plex Mono" pitchFamily="34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9553575" y="7286179"/>
            <a:ext cx="300513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 err="1">
                <a:solidFill>
                  <a:srgbClr val="6B6F7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Porcentagem</a:t>
            </a:r>
            <a:r>
              <a:rPr lang="en-US" sz="1800" dirty="0">
                <a:solidFill>
                  <a:srgbClr val="6B6F7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de </a:t>
            </a:r>
            <a:r>
              <a:rPr lang="en-US" sz="1800" dirty="0" err="1">
                <a:solidFill>
                  <a:srgbClr val="6B6F7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registros</a:t>
            </a:r>
            <a:r>
              <a:rPr lang="en-US" sz="1800" dirty="0">
                <a:solidFill>
                  <a:srgbClr val="6B6F7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: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12806362" y="7275762"/>
            <a:ext cx="1833319" cy="381000"/>
          </a:xfrm>
          <a:prstGeom prst="roundRect">
            <a:avLst>
              <a:gd name="adj" fmla="val 10000"/>
            </a:avLst>
          </a:prstGeom>
          <a:solidFill>
            <a:srgbClr val="F2E4D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2" name="Text 40"/>
          <p:cNvSpPr/>
          <p:nvPr/>
        </p:nvSpPr>
        <p:spPr>
          <a:xfrm>
            <a:off x="11964942" y="7302130"/>
            <a:ext cx="351052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kern="0" spc="36" dirty="0">
                <a:solidFill>
                  <a:srgbClr val="B8651A"/>
                </a:solidFill>
                <a:latin typeface="IBM Plex Mono" pitchFamily="34" charset="0"/>
              </a:rPr>
              <a:t>81 % dos </a:t>
            </a:r>
            <a:r>
              <a:rPr lang="en-US" sz="1300" kern="0" spc="36" dirty="0" err="1">
                <a:solidFill>
                  <a:srgbClr val="B8651A"/>
                </a:solidFill>
                <a:latin typeface="IBM Plex Mono" pitchFamily="34" charset="0"/>
              </a:rPr>
              <a:t>registros</a:t>
            </a:r>
            <a:endParaRPr lang="en-US" sz="1300" kern="0" spc="36" dirty="0">
              <a:solidFill>
                <a:srgbClr val="B8651A"/>
              </a:solidFill>
              <a:latin typeface="IBM Plex Mono" pitchFamily="34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9553575" y="7648129"/>
            <a:ext cx="748759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F7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Só visível APÓS normalizar as unidades (problema 02).</a:t>
            </a:r>
            <a:endParaRPr lang="en-US" sz="1800" dirty="0"/>
          </a:p>
        </p:txBody>
      </p:sp>
      <p:sp>
        <p:nvSpPr>
          <p:cNvPr id="44" name="Shape 42"/>
          <p:cNvSpPr/>
          <p:nvPr/>
        </p:nvSpPr>
        <p:spPr>
          <a:xfrm>
            <a:off x="9553575" y="8676829"/>
            <a:ext cx="7543800" cy="9525"/>
          </a:xfrm>
          <a:prstGeom prst="rect">
            <a:avLst/>
          </a:prstGeom>
          <a:solidFill>
            <a:srgbClr val="D9D4C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5" name="Text 43"/>
          <p:cNvSpPr/>
          <p:nvPr/>
        </p:nvSpPr>
        <p:spPr>
          <a:xfrm>
            <a:off x="9553575" y="8800654"/>
            <a:ext cx="7770114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b="1" dirty="0">
                <a:solidFill>
                  <a:srgbClr val="1E3A5F"/>
                </a:solidFill>
                <a:latin typeface="IBM Plex Sans" pitchFamily="34" charset="0"/>
              </a:rPr>
              <a:t>Tratamento</a:t>
            </a:r>
            <a:r>
              <a:rPr lang="en-US" sz="1800" b="1" dirty="0">
                <a:solidFill>
                  <a:srgbClr val="B865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</a:t>
            </a:r>
            <a:r>
              <a:rPr lang="en-US" sz="1800" dirty="0">
                <a:solidFill>
                  <a:srgbClr val="1517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— </a:t>
            </a:r>
            <a:r>
              <a:rPr lang="en-US" dirty="0" err="1">
                <a:solidFill>
                  <a:srgbClr val="1517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Descartei</a:t>
            </a:r>
            <a:r>
              <a:rPr lang="en-US" dirty="0">
                <a:solidFill>
                  <a:srgbClr val="1517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 flag de </a:t>
            </a:r>
            <a:r>
              <a:rPr lang="en-US" dirty="0" err="1">
                <a:solidFill>
                  <a:srgbClr val="1517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quarentena</a:t>
            </a:r>
            <a:r>
              <a:rPr lang="en-US" dirty="0">
                <a:solidFill>
                  <a:srgbClr val="1517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</a:t>
            </a:r>
            <a:r>
              <a:rPr lang="en-US" dirty="0" err="1">
                <a:solidFill>
                  <a:srgbClr val="1517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devido</a:t>
            </a:r>
            <a:r>
              <a:rPr lang="en-US" dirty="0">
                <a:solidFill>
                  <a:srgbClr val="1517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 </a:t>
            </a:r>
            <a:r>
              <a:rPr lang="en-US" dirty="0" err="1">
                <a:solidFill>
                  <a:srgbClr val="1517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falta</a:t>
            </a:r>
            <a:r>
              <a:rPr lang="en-US" dirty="0">
                <a:solidFill>
                  <a:srgbClr val="1517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de </a:t>
            </a:r>
            <a:r>
              <a:rPr lang="en-US" dirty="0" err="1">
                <a:solidFill>
                  <a:srgbClr val="1517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confiabilidade</a:t>
            </a:r>
            <a:r>
              <a:rPr lang="en-US" dirty="0">
                <a:solidFill>
                  <a:srgbClr val="1517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</a:t>
            </a:r>
            <a:r>
              <a:rPr lang="en-US" dirty="0" err="1">
                <a:solidFill>
                  <a:srgbClr val="1517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na</a:t>
            </a:r>
            <a:r>
              <a:rPr lang="en-US" dirty="0">
                <a:solidFill>
                  <a:srgbClr val="1517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</a:t>
            </a:r>
            <a:r>
              <a:rPr lang="en-US" dirty="0" err="1">
                <a:solidFill>
                  <a:srgbClr val="1517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coluna</a:t>
            </a:r>
            <a:r>
              <a:rPr lang="en-US" dirty="0">
                <a:solidFill>
                  <a:srgbClr val="1517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</a:t>
            </a:r>
            <a:r>
              <a:rPr lang="en-US" dirty="0" err="1">
                <a:solidFill>
                  <a:srgbClr val="1517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creation_time</a:t>
            </a:r>
            <a:r>
              <a:rPr lang="en-US" dirty="0">
                <a:solidFill>
                  <a:srgbClr val="1517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</a:t>
            </a:r>
            <a:r>
              <a:rPr lang="en-US" dirty="0" err="1">
                <a:solidFill>
                  <a:srgbClr val="1517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verificado</a:t>
            </a:r>
            <a:r>
              <a:rPr lang="en-US" dirty="0">
                <a:solidFill>
                  <a:srgbClr val="1517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no </a:t>
            </a:r>
            <a:r>
              <a:rPr lang="en-US" dirty="0" err="1">
                <a:solidFill>
                  <a:srgbClr val="1517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problema</a:t>
            </a:r>
            <a:r>
              <a:rPr lang="en-US" dirty="0">
                <a:solidFill>
                  <a:srgbClr val="1517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2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914400" y="10174039"/>
            <a:ext cx="16459200" cy="9525"/>
          </a:xfrm>
          <a:prstGeom prst="rect">
            <a:avLst/>
          </a:prstGeom>
          <a:solidFill>
            <a:srgbClr val="D9D4C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7" name="Shape 45"/>
          <p:cNvSpPr/>
          <p:nvPr/>
        </p:nvSpPr>
        <p:spPr>
          <a:xfrm>
            <a:off x="914400" y="10335964"/>
            <a:ext cx="906810" cy="445740"/>
          </a:xfrm>
          <a:prstGeom prst="roundRect">
            <a:avLst>
              <a:gd name="adj" fmla="val 6411"/>
            </a:avLst>
          </a:prstGeom>
          <a:solidFill>
            <a:srgbClr val="15171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8" name="Text 46"/>
          <p:cNvSpPr/>
          <p:nvPr/>
        </p:nvSpPr>
        <p:spPr>
          <a:xfrm>
            <a:off x="1047750" y="10393114"/>
            <a:ext cx="716310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180" dirty="0">
                <a:solidFill>
                  <a:srgbClr val="F6F4E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NOTA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1973610" y="10402639"/>
            <a:ext cx="510956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36" dirty="0">
                <a:solidFill>
                  <a:srgbClr val="3A3D4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Verificação de nulos por coluna deu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7086749" y="10393114"/>
            <a:ext cx="643235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b="1" kern="0" spc="36" dirty="0">
                <a:solidFill>
                  <a:srgbClr val="1517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ZERO</a:t>
            </a:r>
            <a:endParaRPr lang="en-US" sz="1800" dirty="0"/>
          </a:p>
        </p:txBody>
      </p:sp>
      <p:sp>
        <p:nvSpPr>
          <p:cNvPr id="51" name="Text 49"/>
          <p:cNvSpPr/>
          <p:nvPr/>
        </p:nvSpPr>
        <p:spPr>
          <a:xfrm>
            <a:off x="7806184" y="10402639"/>
            <a:ext cx="890509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36" dirty="0">
                <a:solidFill>
                  <a:srgbClr val="3A3D4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— verifiquei coluna a coluna, não assumi por inspeção visual.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341090"/>
            <a:ext cx="16459200" cy="9525"/>
          </a:xfrm>
          <a:prstGeom prst="rect">
            <a:avLst/>
          </a:prstGeom>
          <a:solidFill>
            <a:srgbClr val="D9D4C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914400" y="838200"/>
            <a:ext cx="5123664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6B6F7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 / 05 — Resultados &amp; sumarização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447490" y="838200"/>
            <a:ext cx="3013893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6B6F7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Tarefa 4 + opcionais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884015"/>
            <a:ext cx="16952976" cy="6581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650" b="1" kern="0" spc="-93" dirty="0">
                <a:solidFill>
                  <a:srgbClr val="1517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9 usuários, volume balanceado, protocolo cumprido.</a:t>
            </a:r>
            <a:endParaRPr lang="en-US" sz="4650" dirty="0"/>
          </a:p>
        </p:txBody>
      </p:sp>
      <p:sp>
        <p:nvSpPr>
          <p:cNvPr id="6" name="Shape 4"/>
          <p:cNvSpPr/>
          <p:nvPr/>
        </p:nvSpPr>
        <p:spPr>
          <a:xfrm>
            <a:off x="914400" y="3516511"/>
            <a:ext cx="881063" cy="9525"/>
          </a:xfrm>
          <a:prstGeom prst="rect">
            <a:avLst/>
          </a:prstGeom>
          <a:solidFill>
            <a:srgbClr val="3A3D4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1047750" y="3075533"/>
            <a:ext cx="690563" cy="364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108" dirty="0">
                <a:solidFill>
                  <a:srgbClr val="6B6F7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USER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795463" y="3516511"/>
            <a:ext cx="1644700" cy="9525"/>
          </a:xfrm>
          <a:prstGeom prst="rect">
            <a:avLst/>
          </a:prstGeom>
          <a:solidFill>
            <a:srgbClr val="3A3D4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1852612" y="3075533"/>
            <a:ext cx="1454200" cy="364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45000"/>
              </a:lnSpc>
              <a:buNone/>
            </a:pPr>
            <a:r>
              <a:rPr lang="en-US" sz="1800" kern="0" spc="108" dirty="0">
                <a:solidFill>
                  <a:srgbClr val="6B6F7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REGISTROS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440162" y="3516511"/>
            <a:ext cx="1339304" cy="9525"/>
          </a:xfrm>
          <a:prstGeom prst="rect">
            <a:avLst/>
          </a:prstGeom>
          <a:solidFill>
            <a:srgbClr val="3A3D4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3497312" y="3075533"/>
            <a:ext cx="1148804" cy="364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45000"/>
              </a:lnSpc>
              <a:buNone/>
            </a:pPr>
            <a:r>
              <a:rPr lang="en-US" sz="1800" kern="0" spc="108" dirty="0">
                <a:solidFill>
                  <a:srgbClr val="6B6F7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DEVICES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779466" y="3516511"/>
            <a:ext cx="1339304" cy="9525"/>
          </a:xfrm>
          <a:prstGeom prst="rect">
            <a:avLst/>
          </a:prstGeom>
          <a:solidFill>
            <a:srgbClr val="3A3D4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4836616" y="3075533"/>
            <a:ext cx="1148804" cy="364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45000"/>
              </a:lnSpc>
              <a:buNone/>
            </a:pPr>
            <a:r>
              <a:rPr lang="en-US" sz="1800" kern="0" spc="108" dirty="0">
                <a:solidFill>
                  <a:srgbClr val="6B6F7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MODELOS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118771" y="3516511"/>
            <a:ext cx="1797397" cy="9525"/>
          </a:xfrm>
          <a:prstGeom prst="rect">
            <a:avLst/>
          </a:prstGeom>
          <a:solidFill>
            <a:srgbClr val="3A3D4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6175921" y="3075533"/>
            <a:ext cx="1606897" cy="364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45000"/>
              </a:lnSpc>
              <a:buNone/>
            </a:pPr>
            <a:r>
              <a:rPr lang="en-US" sz="1800" kern="0" spc="108" dirty="0">
                <a:solidFill>
                  <a:srgbClr val="6B6F7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ATIVIDADES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916168" y="3516511"/>
            <a:ext cx="2103239" cy="9525"/>
          </a:xfrm>
          <a:prstGeom prst="rect">
            <a:avLst/>
          </a:prstGeom>
          <a:solidFill>
            <a:srgbClr val="3A3D4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7973318" y="3075533"/>
            <a:ext cx="1912739" cy="364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45000"/>
              </a:lnSpc>
              <a:buNone/>
            </a:pPr>
            <a:r>
              <a:rPr lang="en-US" sz="1800" kern="0" spc="108" dirty="0">
                <a:solidFill>
                  <a:srgbClr val="6B6F7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ACCEL / GYRO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14400" y="4086076"/>
            <a:ext cx="881063" cy="9525"/>
          </a:xfrm>
          <a:prstGeom prst="rect">
            <a:avLst/>
          </a:prstGeom>
          <a:solidFill>
            <a:srgbClr val="D9D4C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1047750" y="3640336"/>
            <a:ext cx="690563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1517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795463" y="4086076"/>
            <a:ext cx="1644700" cy="9525"/>
          </a:xfrm>
          <a:prstGeom prst="rect">
            <a:avLst/>
          </a:prstGeom>
          <a:solidFill>
            <a:srgbClr val="D9D4C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1852612" y="3640336"/>
            <a:ext cx="1454200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45000"/>
              </a:lnSpc>
              <a:buNone/>
            </a:pPr>
            <a:r>
              <a:rPr lang="en-US" sz="1800" dirty="0">
                <a:solidFill>
                  <a:srgbClr val="1517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~3,0–4,5M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3440162" y="4086076"/>
            <a:ext cx="1339304" cy="9525"/>
          </a:xfrm>
          <a:prstGeom prst="rect">
            <a:avLst/>
          </a:prstGeom>
          <a:solidFill>
            <a:srgbClr val="D9D4C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3497312" y="3640336"/>
            <a:ext cx="1148804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45000"/>
              </a:lnSpc>
              <a:buNone/>
            </a:pPr>
            <a:r>
              <a:rPr lang="en-US" sz="1800" dirty="0">
                <a:solidFill>
                  <a:srgbClr val="1517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4779466" y="4086076"/>
            <a:ext cx="1339304" cy="9525"/>
          </a:xfrm>
          <a:prstGeom prst="rect">
            <a:avLst/>
          </a:prstGeom>
          <a:solidFill>
            <a:srgbClr val="D9D4C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4836616" y="3640336"/>
            <a:ext cx="1148804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45000"/>
              </a:lnSpc>
              <a:buNone/>
            </a:pPr>
            <a:r>
              <a:rPr lang="en-US" sz="1800" dirty="0">
                <a:solidFill>
                  <a:srgbClr val="1517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6118771" y="4086076"/>
            <a:ext cx="1797397" cy="9525"/>
          </a:xfrm>
          <a:prstGeom prst="rect">
            <a:avLst/>
          </a:prstGeom>
          <a:solidFill>
            <a:srgbClr val="D9D4C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6175921" y="3640336"/>
            <a:ext cx="1606897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45000"/>
              </a:lnSpc>
              <a:buNone/>
            </a:pPr>
            <a:r>
              <a:rPr lang="en-US" sz="1800" dirty="0">
                <a:solidFill>
                  <a:srgbClr val="1517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7916168" y="4086076"/>
            <a:ext cx="2103239" cy="9525"/>
          </a:xfrm>
          <a:prstGeom prst="rect">
            <a:avLst/>
          </a:prstGeom>
          <a:solidFill>
            <a:srgbClr val="D9D4C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7973318" y="3640336"/>
            <a:ext cx="1912739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45000"/>
              </a:lnSpc>
              <a:buNone/>
            </a:pPr>
            <a:r>
              <a:rPr lang="en-US" sz="1800" dirty="0">
                <a:solidFill>
                  <a:srgbClr val="1517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~50 / 50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914400" y="4655641"/>
            <a:ext cx="881063" cy="9525"/>
          </a:xfrm>
          <a:prstGeom prst="rect">
            <a:avLst/>
          </a:prstGeom>
          <a:solidFill>
            <a:srgbClr val="D9D4C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/>
          <p:nvPr/>
        </p:nvSpPr>
        <p:spPr>
          <a:xfrm>
            <a:off x="1047750" y="4209901"/>
            <a:ext cx="690563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1517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1795463" y="4655641"/>
            <a:ext cx="1644700" cy="9525"/>
          </a:xfrm>
          <a:prstGeom prst="rect">
            <a:avLst/>
          </a:prstGeom>
          <a:solidFill>
            <a:srgbClr val="D9D4C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3" name="Text 31"/>
          <p:cNvSpPr/>
          <p:nvPr/>
        </p:nvSpPr>
        <p:spPr>
          <a:xfrm>
            <a:off x="1852612" y="4209901"/>
            <a:ext cx="1454200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45000"/>
              </a:lnSpc>
              <a:buNone/>
            </a:pPr>
            <a:r>
              <a:rPr lang="en-US" sz="1800" dirty="0">
                <a:solidFill>
                  <a:srgbClr val="1517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~3,0–4,5M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3440162" y="4655641"/>
            <a:ext cx="1339304" cy="9525"/>
          </a:xfrm>
          <a:prstGeom prst="rect">
            <a:avLst/>
          </a:prstGeom>
          <a:solidFill>
            <a:srgbClr val="D9D4C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5" name="Text 33"/>
          <p:cNvSpPr/>
          <p:nvPr/>
        </p:nvSpPr>
        <p:spPr>
          <a:xfrm>
            <a:off x="3497312" y="4209901"/>
            <a:ext cx="1148804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45000"/>
              </a:lnSpc>
              <a:buNone/>
            </a:pPr>
            <a:r>
              <a:rPr lang="en-US" sz="1800" dirty="0">
                <a:solidFill>
                  <a:srgbClr val="1517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4779466" y="4655641"/>
            <a:ext cx="1339304" cy="9525"/>
          </a:xfrm>
          <a:prstGeom prst="rect">
            <a:avLst/>
          </a:prstGeom>
          <a:solidFill>
            <a:srgbClr val="D9D4C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7" name="Text 35"/>
          <p:cNvSpPr/>
          <p:nvPr/>
        </p:nvSpPr>
        <p:spPr>
          <a:xfrm>
            <a:off x="4836616" y="4209901"/>
            <a:ext cx="1148804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45000"/>
              </a:lnSpc>
              <a:buNone/>
            </a:pPr>
            <a:r>
              <a:rPr lang="en-US" sz="1800" dirty="0">
                <a:solidFill>
                  <a:srgbClr val="1517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6118771" y="4655641"/>
            <a:ext cx="1797397" cy="9525"/>
          </a:xfrm>
          <a:prstGeom prst="rect">
            <a:avLst/>
          </a:prstGeom>
          <a:solidFill>
            <a:srgbClr val="D9D4C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9" name="Text 37"/>
          <p:cNvSpPr/>
          <p:nvPr/>
        </p:nvSpPr>
        <p:spPr>
          <a:xfrm>
            <a:off x="6175921" y="4209901"/>
            <a:ext cx="1606897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45000"/>
              </a:lnSpc>
              <a:buNone/>
            </a:pPr>
            <a:r>
              <a:rPr lang="en-US" sz="1800" dirty="0">
                <a:solidFill>
                  <a:srgbClr val="1517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7916168" y="4655641"/>
            <a:ext cx="2103239" cy="9525"/>
          </a:xfrm>
          <a:prstGeom prst="rect">
            <a:avLst/>
          </a:prstGeom>
          <a:solidFill>
            <a:srgbClr val="D9D4C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1" name="Text 39"/>
          <p:cNvSpPr/>
          <p:nvPr/>
        </p:nvSpPr>
        <p:spPr>
          <a:xfrm>
            <a:off x="7973318" y="4209901"/>
            <a:ext cx="1912739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45000"/>
              </a:lnSpc>
              <a:buNone/>
            </a:pPr>
            <a:r>
              <a:rPr lang="en-US" sz="1800" dirty="0">
                <a:solidFill>
                  <a:srgbClr val="1517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~50 / 50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914400" y="5225207"/>
            <a:ext cx="881063" cy="9525"/>
          </a:xfrm>
          <a:prstGeom prst="rect">
            <a:avLst/>
          </a:prstGeom>
          <a:solidFill>
            <a:srgbClr val="D9D4C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3" name="Text 41"/>
          <p:cNvSpPr/>
          <p:nvPr/>
        </p:nvSpPr>
        <p:spPr>
          <a:xfrm>
            <a:off x="1047750" y="4779466"/>
            <a:ext cx="690563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1517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</a:t>
            </a:r>
            <a:endParaRPr lang="en-US" sz="1800" dirty="0"/>
          </a:p>
        </p:txBody>
      </p:sp>
      <p:sp>
        <p:nvSpPr>
          <p:cNvPr id="44" name="Shape 42"/>
          <p:cNvSpPr/>
          <p:nvPr/>
        </p:nvSpPr>
        <p:spPr>
          <a:xfrm>
            <a:off x="1795463" y="5225207"/>
            <a:ext cx="1644700" cy="9525"/>
          </a:xfrm>
          <a:prstGeom prst="rect">
            <a:avLst/>
          </a:prstGeom>
          <a:solidFill>
            <a:srgbClr val="D9D4C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5" name="Text 43"/>
          <p:cNvSpPr/>
          <p:nvPr/>
        </p:nvSpPr>
        <p:spPr>
          <a:xfrm>
            <a:off x="1852612" y="4779466"/>
            <a:ext cx="1454200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45000"/>
              </a:lnSpc>
              <a:buNone/>
            </a:pPr>
            <a:r>
              <a:rPr lang="en-US" sz="1800" dirty="0">
                <a:solidFill>
                  <a:srgbClr val="1517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~3,0–4,5M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3440162" y="5225207"/>
            <a:ext cx="1339304" cy="9525"/>
          </a:xfrm>
          <a:prstGeom prst="rect">
            <a:avLst/>
          </a:prstGeom>
          <a:solidFill>
            <a:srgbClr val="D9D4C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7" name="Text 45"/>
          <p:cNvSpPr/>
          <p:nvPr/>
        </p:nvSpPr>
        <p:spPr>
          <a:xfrm>
            <a:off x="3497312" y="4779466"/>
            <a:ext cx="1148804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45000"/>
              </a:lnSpc>
              <a:buNone/>
            </a:pPr>
            <a:r>
              <a:rPr lang="en-US" sz="1800" dirty="0">
                <a:solidFill>
                  <a:srgbClr val="1517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4779466" y="5225207"/>
            <a:ext cx="1339304" cy="9525"/>
          </a:xfrm>
          <a:prstGeom prst="rect">
            <a:avLst/>
          </a:prstGeom>
          <a:solidFill>
            <a:srgbClr val="D9D4C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9" name="Text 47"/>
          <p:cNvSpPr/>
          <p:nvPr/>
        </p:nvSpPr>
        <p:spPr>
          <a:xfrm>
            <a:off x="4836616" y="4779466"/>
            <a:ext cx="1148804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45000"/>
              </a:lnSpc>
              <a:buNone/>
            </a:pPr>
            <a:r>
              <a:rPr lang="en-US" sz="1800" dirty="0">
                <a:solidFill>
                  <a:srgbClr val="1517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</a:t>
            </a:r>
            <a:endParaRPr lang="en-US" sz="1800" dirty="0"/>
          </a:p>
        </p:txBody>
      </p:sp>
      <p:sp>
        <p:nvSpPr>
          <p:cNvPr id="50" name="Shape 48"/>
          <p:cNvSpPr/>
          <p:nvPr/>
        </p:nvSpPr>
        <p:spPr>
          <a:xfrm>
            <a:off x="6118771" y="5225207"/>
            <a:ext cx="1797397" cy="9525"/>
          </a:xfrm>
          <a:prstGeom prst="rect">
            <a:avLst/>
          </a:prstGeom>
          <a:solidFill>
            <a:srgbClr val="D9D4C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1" name="Text 49"/>
          <p:cNvSpPr/>
          <p:nvPr/>
        </p:nvSpPr>
        <p:spPr>
          <a:xfrm>
            <a:off x="6175921" y="4779466"/>
            <a:ext cx="1606897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45000"/>
              </a:lnSpc>
              <a:buNone/>
            </a:pPr>
            <a:r>
              <a:rPr lang="en-US" sz="1800" dirty="0">
                <a:solidFill>
                  <a:srgbClr val="1517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</a:t>
            </a:r>
            <a:endParaRPr lang="en-US" sz="1800" dirty="0"/>
          </a:p>
        </p:txBody>
      </p:sp>
      <p:sp>
        <p:nvSpPr>
          <p:cNvPr id="52" name="Shape 50"/>
          <p:cNvSpPr/>
          <p:nvPr/>
        </p:nvSpPr>
        <p:spPr>
          <a:xfrm>
            <a:off x="7916168" y="5225207"/>
            <a:ext cx="2103239" cy="9525"/>
          </a:xfrm>
          <a:prstGeom prst="rect">
            <a:avLst/>
          </a:prstGeom>
          <a:solidFill>
            <a:srgbClr val="D9D4C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3" name="Text 51"/>
          <p:cNvSpPr/>
          <p:nvPr/>
        </p:nvSpPr>
        <p:spPr>
          <a:xfrm>
            <a:off x="7973318" y="4779466"/>
            <a:ext cx="1912739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45000"/>
              </a:lnSpc>
              <a:buNone/>
            </a:pPr>
            <a:r>
              <a:rPr lang="en-US" sz="1800" dirty="0">
                <a:solidFill>
                  <a:srgbClr val="1517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~50 / 50</a:t>
            </a:r>
            <a:endParaRPr lang="en-US" sz="1800" dirty="0"/>
          </a:p>
        </p:txBody>
      </p:sp>
      <p:sp>
        <p:nvSpPr>
          <p:cNvPr id="54" name="Shape 52"/>
          <p:cNvSpPr/>
          <p:nvPr/>
        </p:nvSpPr>
        <p:spPr>
          <a:xfrm>
            <a:off x="914400" y="5794772"/>
            <a:ext cx="881063" cy="9525"/>
          </a:xfrm>
          <a:prstGeom prst="rect">
            <a:avLst/>
          </a:prstGeom>
          <a:solidFill>
            <a:srgbClr val="D9D4C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5" name="Text 53"/>
          <p:cNvSpPr/>
          <p:nvPr/>
        </p:nvSpPr>
        <p:spPr>
          <a:xfrm>
            <a:off x="1047750" y="5349032"/>
            <a:ext cx="690563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1517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</a:t>
            </a:r>
            <a:endParaRPr lang="en-US" sz="1800" dirty="0"/>
          </a:p>
        </p:txBody>
      </p:sp>
      <p:sp>
        <p:nvSpPr>
          <p:cNvPr id="56" name="Shape 54"/>
          <p:cNvSpPr/>
          <p:nvPr/>
        </p:nvSpPr>
        <p:spPr>
          <a:xfrm>
            <a:off x="1795463" y="5794772"/>
            <a:ext cx="1644700" cy="9525"/>
          </a:xfrm>
          <a:prstGeom prst="rect">
            <a:avLst/>
          </a:prstGeom>
          <a:solidFill>
            <a:srgbClr val="D9D4C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7" name="Text 55"/>
          <p:cNvSpPr/>
          <p:nvPr/>
        </p:nvSpPr>
        <p:spPr>
          <a:xfrm>
            <a:off x="1852612" y="5349032"/>
            <a:ext cx="1454200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45000"/>
              </a:lnSpc>
              <a:buNone/>
            </a:pPr>
            <a:r>
              <a:rPr lang="en-US" sz="1800" dirty="0">
                <a:solidFill>
                  <a:srgbClr val="1517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~3,0–4,5M</a:t>
            </a:r>
            <a:endParaRPr lang="en-US" sz="1800" dirty="0"/>
          </a:p>
        </p:txBody>
      </p:sp>
      <p:sp>
        <p:nvSpPr>
          <p:cNvPr id="58" name="Shape 56"/>
          <p:cNvSpPr/>
          <p:nvPr/>
        </p:nvSpPr>
        <p:spPr>
          <a:xfrm>
            <a:off x="3440162" y="5794772"/>
            <a:ext cx="1339304" cy="9525"/>
          </a:xfrm>
          <a:prstGeom prst="rect">
            <a:avLst/>
          </a:prstGeom>
          <a:solidFill>
            <a:srgbClr val="D9D4C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9" name="Text 57"/>
          <p:cNvSpPr/>
          <p:nvPr/>
        </p:nvSpPr>
        <p:spPr>
          <a:xfrm>
            <a:off x="3497312" y="5349032"/>
            <a:ext cx="1148804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45000"/>
              </a:lnSpc>
              <a:buNone/>
            </a:pPr>
            <a:r>
              <a:rPr lang="en-US" sz="1800" dirty="0">
                <a:solidFill>
                  <a:srgbClr val="1517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</a:t>
            </a:r>
            <a:endParaRPr lang="en-US" sz="1800" dirty="0"/>
          </a:p>
        </p:txBody>
      </p:sp>
      <p:sp>
        <p:nvSpPr>
          <p:cNvPr id="60" name="Shape 58"/>
          <p:cNvSpPr/>
          <p:nvPr/>
        </p:nvSpPr>
        <p:spPr>
          <a:xfrm>
            <a:off x="4779466" y="5794772"/>
            <a:ext cx="1339304" cy="9525"/>
          </a:xfrm>
          <a:prstGeom prst="rect">
            <a:avLst/>
          </a:prstGeom>
          <a:solidFill>
            <a:srgbClr val="D9D4C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1" name="Text 59"/>
          <p:cNvSpPr/>
          <p:nvPr/>
        </p:nvSpPr>
        <p:spPr>
          <a:xfrm>
            <a:off x="4836616" y="5349032"/>
            <a:ext cx="1148804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45000"/>
              </a:lnSpc>
              <a:buNone/>
            </a:pPr>
            <a:r>
              <a:rPr lang="en-US" sz="1800" dirty="0">
                <a:solidFill>
                  <a:srgbClr val="1517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</a:t>
            </a:r>
            <a:endParaRPr lang="en-US" sz="1800" dirty="0"/>
          </a:p>
        </p:txBody>
      </p:sp>
      <p:sp>
        <p:nvSpPr>
          <p:cNvPr id="62" name="Shape 60"/>
          <p:cNvSpPr/>
          <p:nvPr/>
        </p:nvSpPr>
        <p:spPr>
          <a:xfrm>
            <a:off x="6118771" y="5794772"/>
            <a:ext cx="1797397" cy="9525"/>
          </a:xfrm>
          <a:prstGeom prst="rect">
            <a:avLst/>
          </a:prstGeom>
          <a:solidFill>
            <a:srgbClr val="D9D4C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3" name="Text 61"/>
          <p:cNvSpPr/>
          <p:nvPr/>
        </p:nvSpPr>
        <p:spPr>
          <a:xfrm>
            <a:off x="6175921" y="5349032"/>
            <a:ext cx="1606897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45000"/>
              </a:lnSpc>
              <a:buNone/>
            </a:pPr>
            <a:r>
              <a:rPr lang="en-US" sz="1800" dirty="0">
                <a:solidFill>
                  <a:srgbClr val="1517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</a:t>
            </a:r>
            <a:endParaRPr lang="en-US" sz="1800" dirty="0"/>
          </a:p>
        </p:txBody>
      </p:sp>
      <p:sp>
        <p:nvSpPr>
          <p:cNvPr id="64" name="Shape 62"/>
          <p:cNvSpPr/>
          <p:nvPr/>
        </p:nvSpPr>
        <p:spPr>
          <a:xfrm>
            <a:off x="7916168" y="5794772"/>
            <a:ext cx="2103239" cy="9525"/>
          </a:xfrm>
          <a:prstGeom prst="rect">
            <a:avLst/>
          </a:prstGeom>
          <a:solidFill>
            <a:srgbClr val="D9D4C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5" name="Text 63"/>
          <p:cNvSpPr/>
          <p:nvPr/>
        </p:nvSpPr>
        <p:spPr>
          <a:xfrm>
            <a:off x="7973318" y="5349032"/>
            <a:ext cx="1912739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45000"/>
              </a:lnSpc>
              <a:buNone/>
            </a:pPr>
            <a:r>
              <a:rPr lang="en-US" sz="1800" dirty="0">
                <a:solidFill>
                  <a:srgbClr val="1517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~50 / 50</a:t>
            </a:r>
            <a:endParaRPr lang="en-US" sz="1800" dirty="0"/>
          </a:p>
        </p:txBody>
      </p:sp>
      <p:sp>
        <p:nvSpPr>
          <p:cNvPr id="66" name="Shape 64"/>
          <p:cNvSpPr/>
          <p:nvPr/>
        </p:nvSpPr>
        <p:spPr>
          <a:xfrm>
            <a:off x="914400" y="6364337"/>
            <a:ext cx="881063" cy="9525"/>
          </a:xfrm>
          <a:prstGeom prst="rect">
            <a:avLst/>
          </a:prstGeom>
          <a:solidFill>
            <a:srgbClr val="D9D4C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7" name="Text 65"/>
          <p:cNvSpPr/>
          <p:nvPr/>
        </p:nvSpPr>
        <p:spPr>
          <a:xfrm>
            <a:off x="1047750" y="5918597"/>
            <a:ext cx="690563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1517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</a:t>
            </a:r>
            <a:endParaRPr lang="en-US" sz="1800" dirty="0"/>
          </a:p>
        </p:txBody>
      </p:sp>
      <p:sp>
        <p:nvSpPr>
          <p:cNvPr id="68" name="Shape 66"/>
          <p:cNvSpPr/>
          <p:nvPr/>
        </p:nvSpPr>
        <p:spPr>
          <a:xfrm>
            <a:off x="1795463" y="6364337"/>
            <a:ext cx="1644700" cy="9525"/>
          </a:xfrm>
          <a:prstGeom prst="rect">
            <a:avLst/>
          </a:prstGeom>
          <a:solidFill>
            <a:srgbClr val="D9D4C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9" name="Text 67"/>
          <p:cNvSpPr/>
          <p:nvPr/>
        </p:nvSpPr>
        <p:spPr>
          <a:xfrm>
            <a:off x="1852612" y="5918597"/>
            <a:ext cx="1454200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45000"/>
              </a:lnSpc>
              <a:buNone/>
            </a:pPr>
            <a:r>
              <a:rPr lang="en-US" sz="1800" dirty="0">
                <a:solidFill>
                  <a:srgbClr val="1517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~3,0–4,5M</a:t>
            </a:r>
            <a:endParaRPr lang="en-US" sz="1800" dirty="0"/>
          </a:p>
        </p:txBody>
      </p:sp>
      <p:sp>
        <p:nvSpPr>
          <p:cNvPr id="70" name="Shape 68"/>
          <p:cNvSpPr/>
          <p:nvPr/>
        </p:nvSpPr>
        <p:spPr>
          <a:xfrm>
            <a:off x="3440162" y="6364337"/>
            <a:ext cx="1339304" cy="9525"/>
          </a:xfrm>
          <a:prstGeom prst="rect">
            <a:avLst/>
          </a:prstGeom>
          <a:solidFill>
            <a:srgbClr val="D9D4C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1" name="Text 69"/>
          <p:cNvSpPr/>
          <p:nvPr/>
        </p:nvSpPr>
        <p:spPr>
          <a:xfrm>
            <a:off x="3497312" y="5918597"/>
            <a:ext cx="1148804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45000"/>
              </a:lnSpc>
              <a:buNone/>
            </a:pPr>
            <a:r>
              <a:rPr lang="en-US" sz="1800" dirty="0">
                <a:solidFill>
                  <a:srgbClr val="1517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</a:t>
            </a:r>
            <a:endParaRPr lang="en-US" sz="1800" dirty="0"/>
          </a:p>
        </p:txBody>
      </p:sp>
      <p:sp>
        <p:nvSpPr>
          <p:cNvPr id="72" name="Shape 70"/>
          <p:cNvSpPr/>
          <p:nvPr/>
        </p:nvSpPr>
        <p:spPr>
          <a:xfrm>
            <a:off x="4779466" y="6364337"/>
            <a:ext cx="1339304" cy="9525"/>
          </a:xfrm>
          <a:prstGeom prst="rect">
            <a:avLst/>
          </a:prstGeom>
          <a:solidFill>
            <a:srgbClr val="D9D4C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3" name="Text 71"/>
          <p:cNvSpPr/>
          <p:nvPr/>
        </p:nvSpPr>
        <p:spPr>
          <a:xfrm>
            <a:off x="4836616" y="5918597"/>
            <a:ext cx="1148804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45000"/>
              </a:lnSpc>
              <a:buNone/>
            </a:pPr>
            <a:r>
              <a:rPr lang="en-US" sz="1800" dirty="0">
                <a:solidFill>
                  <a:srgbClr val="1517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</a:t>
            </a:r>
            <a:endParaRPr lang="en-US" sz="1800" dirty="0"/>
          </a:p>
        </p:txBody>
      </p:sp>
      <p:sp>
        <p:nvSpPr>
          <p:cNvPr id="74" name="Shape 72"/>
          <p:cNvSpPr/>
          <p:nvPr/>
        </p:nvSpPr>
        <p:spPr>
          <a:xfrm>
            <a:off x="6118771" y="6364337"/>
            <a:ext cx="1797397" cy="9525"/>
          </a:xfrm>
          <a:prstGeom prst="rect">
            <a:avLst/>
          </a:prstGeom>
          <a:solidFill>
            <a:srgbClr val="D9D4C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5" name="Text 73"/>
          <p:cNvSpPr/>
          <p:nvPr/>
        </p:nvSpPr>
        <p:spPr>
          <a:xfrm>
            <a:off x="6175921" y="5918597"/>
            <a:ext cx="1606897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45000"/>
              </a:lnSpc>
              <a:buNone/>
            </a:pPr>
            <a:r>
              <a:rPr lang="en-US" sz="1800" dirty="0">
                <a:solidFill>
                  <a:srgbClr val="1517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</a:t>
            </a:r>
            <a:endParaRPr lang="en-US" sz="1800" dirty="0"/>
          </a:p>
        </p:txBody>
      </p:sp>
      <p:sp>
        <p:nvSpPr>
          <p:cNvPr id="76" name="Shape 74"/>
          <p:cNvSpPr/>
          <p:nvPr/>
        </p:nvSpPr>
        <p:spPr>
          <a:xfrm>
            <a:off x="7916168" y="6364337"/>
            <a:ext cx="2103239" cy="9525"/>
          </a:xfrm>
          <a:prstGeom prst="rect">
            <a:avLst/>
          </a:prstGeom>
          <a:solidFill>
            <a:srgbClr val="D9D4C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7" name="Text 75"/>
          <p:cNvSpPr/>
          <p:nvPr/>
        </p:nvSpPr>
        <p:spPr>
          <a:xfrm>
            <a:off x="7973318" y="5918597"/>
            <a:ext cx="1912739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45000"/>
              </a:lnSpc>
              <a:buNone/>
            </a:pPr>
            <a:r>
              <a:rPr lang="en-US" sz="1800" dirty="0">
                <a:solidFill>
                  <a:srgbClr val="1517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~50 / 50</a:t>
            </a:r>
            <a:endParaRPr lang="en-US" sz="1800" dirty="0"/>
          </a:p>
        </p:txBody>
      </p:sp>
      <p:sp>
        <p:nvSpPr>
          <p:cNvPr id="78" name="Shape 76"/>
          <p:cNvSpPr/>
          <p:nvPr/>
        </p:nvSpPr>
        <p:spPr>
          <a:xfrm>
            <a:off x="914400" y="6933902"/>
            <a:ext cx="881063" cy="9525"/>
          </a:xfrm>
          <a:prstGeom prst="rect">
            <a:avLst/>
          </a:prstGeom>
          <a:solidFill>
            <a:srgbClr val="D9D4C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9" name="Text 77"/>
          <p:cNvSpPr/>
          <p:nvPr/>
        </p:nvSpPr>
        <p:spPr>
          <a:xfrm>
            <a:off x="1047750" y="6488162"/>
            <a:ext cx="690563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1517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</a:t>
            </a:r>
            <a:endParaRPr lang="en-US" sz="1800" dirty="0"/>
          </a:p>
        </p:txBody>
      </p:sp>
      <p:sp>
        <p:nvSpPr>
          <p:cNvPr id="80" name="Shape 78"/>
          <p:cNvSpPr/>
          <p:nvPr/>
        </p:nvSpPr>
        <p:spPr>
          <a:xfrm>
            <a:off x="1795463" y="6933902"/>
            <a:ext cx="1644700" cy="9525"/>
          </a:xfrm>
          <a:prstGeom prst="rect">
            <a:avLst/>
          </a:prstGeom>
          <a:solidFill>
            <a:srgbClr val="D9D4C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1" name="Text 79"/>
          <p:cNvSpPr/>
          <p:nvPr/>
        </p:nvSpPr>
        <p:spPr>
          <a:xfrm>
            <a:off x="1852612" y="6488162"/>
            <a:ext cx="1454200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45000"/>
              </a:lnSpc>
              <a:buNone/>
            </a:pPr>
            <a:r>
              <a:rPr lang="en-US" sz="1800" dirty="0">
                <a:solidFill>
                  <a:srgbClr val="1517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~3,0–4,5M</a:t>
            </a:r>
            <a:endParaRPr lang="en-US" sz="1800" dirty="0"/>
          </a:p>
        </p:txBody>
      </p:sp>
      <p:sp>
        <p:nvSpPr>
          <p:cNvPr id="82" name="Shape 80"/>
          <p:cNvSpPr/>
          <p:nvPr/>
        </p:nvSpPr>
        <p:spPr>
          <a:xfrm>
            <a:off x="3440162" y="6933902"/>
            <a:ext cx="1339304" cy="9525"/>
          </a:xfrm>
          <a:prstGeom prst="rect">
            <a:avLst/>
          </a:prstGeom>
          <a:solidFill>
            <a:srgbClr val="D9D4C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3" name="Text 81"/>
          <p:cNvSpPr/>
          <p:nvPr/>
        </p:nvSpPr>
        <p:spPr>
          <a:xfrm>
            <a:off x="3497312" y="6488162"/>
            <a:ext cx="1148804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45000"/>
              </a:lnSpc>
              <a:buNone/>
            </a:pPr>
            <a:r>
              <a:rPr lang="en-US" sz="1800" dirty="0">
                <a:solidFill>
                  <a:srgbClr val="1517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</a:t>
            </a:r>
            <a:endParaRPr lang="en-US" sz="1800" dirty="0"/>
          </a:p>
        </p:txBody>
      </p:sp>
      <p:sp>
        <p:nvSpPr>
          <p:cNvPr id="84" name="Shape 82"/>
          <p:cNvSpPr/>
          <p:nvPr/>
        </p:nvSpPr>
        <p:spPr>
          <a:xfrm>
            <a:off x="4779466" y="6933902"/>
            <a:ext cx="1339304" cy="9525"/>
          </a:xfrm>
          <a:prstGeom prst="rect">
            <a:avLst/>
          </a:prstGeom>
          <a:solidFill>
            <a:srgbClr val="D9D4C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5" name="Text 83"/>
          <p:cNvSpPr/>
          <p:nvPr/>
        </p:nvSpPr>
        <p:spPr>
          <a:xfrm>
            <a:off x="4836616" y="6488162"/>
            <a:ext cx="1148804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45000"/>
              </a:lnSpc>
              <a:buNone/>
            </a:pPr>
            <a:r>
              <a:rPr lang="en-US" sz="1800" dirty="0">
                <a:solidFill>
                  <a:srgbClr val="1517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</a:t>
            </a:r>
            <a:endParaRPr lang="en-US" sz="1800" dirty="0"/>
          </a:p>
        </p:txBody>
      </p:sp>
      <p:sp>
        <p:nvSpPr>
          <p:cNvPr id="86" name="Shape 84"/>
          <p:cNvSpPr/>
          <p:nvPr/>
        </p:nvSpPr>
        <p:spPr>
          <a:xfrm>
            <a:off x="6118771" y="6933902"/>
            <a:ext cx="1797397" cy="9525"/>
          </a:xfrm>
          <a:prstGeom prst="rect">
            <a:avLst/>
          </a:prstGeom>
          <a:solidFill>
            <a:srgbClr val="D9D4C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7" name="Text 85"/>
          <p:cNvSpPr/>
          <p:nvPr/>
        </p:nvSpPr>
        <p:spPr>
          <a:xfrm>
            <a:off x="6175921" y="6488162"/>
            <a:ext cx="1606897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45000"/>
              </a:lnSpc>
              <a:buNone/>
            </a:pPr>
            <a:r>
              <a:rPr lang="en-US" sz="1800" dirty="0">
                <a:solidFill>
                  <a:srgbClr val="1517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</a:t>
            </a:r>
            <a:endParaRPr lang="en-US" sz="1800" dirty="0"/>
          </a:p>
        </p:txBody>
      </p:sp>
      <p:sp>
        <p:nvSpPr>
          <p:cNvPr id="88" name="Shape 86"/>
          <p:cNvSpPr/>
          <p:nvPr/>
        </p:nvSpPr>
        <p:spPr>
          <a:xfrm>
            <a:off x="7916168" y="6933902"/>
            <a:ext cx="2103239" cy="9525"/>
          </a:xfrm>
          <a:prstGeom prst="rect">
            <a:avLst/>
          </a:prstGeom>
          <a:solidFill>
            <a:srgbClr val="D9D4C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9" name="Text 87"/>
          <p:cNvSpPr/>
          <p:nvPr/>
        </p:nvSpPr>
        <p:spPr>
          <a:xfrm>
            <a:off x="7973318" y="6488162"/>
            <a:ext cx="1912739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45000"/>
              </a:lnSpc>
              <a:buNone/>
            </a:pPr>
            <a:r>
              <a:rPr lang="en-US" sz="1800" dirty="0">
                <a:solidFill>
                  <a:srgbClr val="1517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~50 / 50</a:t>
            </a:r>
            <a:endParaRPr lang="en-US" sz="1800" dirty="0"/>
          </a:p>
        </p:txBody>
      </p:sp>
      <p:sp>
        <p:nvSpPr>
          <p:cNvPr id="90" name="Shape 88"/>
          <p:cNvSpPr/>
          <p:nvPr/>
        </p:nvSpPr>
        <p:spPr>
          <a:xfrm>
            <a:off x="914400" y="7503468"/>
            <a:ext cx="881063" cy="9525"/>
          </a:xfrm>
          <a:prstGeom prst="rect">
            <a:avLst/>
          </a:prstGeom>
          <a:solidFill>
            <a:srgbClr val="D9D4C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1" name="Text 89"/>
          <p:cNvSpPr/>
          <p:nvPr/>
        </p:nvSpPr>
        <p:spPr>
          <a:xfrm>
            <a:off x="1047750" y="7057727"/>
            <a:ext cx="690563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1517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</a:t>
            </a:r>
            <a:endParaRPr lang="en-US" sz="1800" dirty="0"/>
          </a:p>
        </p:txBody>
      </p:sp>
      <p:sp>
        <p:nvSpPr>
          <p:cNvPr id="92" name="Shape 90"/>
          <p:cNvSpPr/>
          <p:nvPr/>
        </p:nvSpPr>
        <p:spPr>
          <a:xfrm>
            <a:off x="1795463" y="7503468"/>
            <a:ext cx="1644700" cy="9525"/>
          </a:xfrm>
          <a:prstGeom prst="rect">
            <a:avLst/>
          </a:prstGeom>
          <a:solidFill>
            <a:srgbClr val="D9D4C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3" name="Text 91"/>
          <p:cNvSpPr/>
          <p:nvPr/>
        </p:nvSpPr>
        <p:spPr>
          <a:xfrm>
            <a:off x="1852612" y="7057727"/>
            <a:ext cx="1454200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45000"/>
              </a:lnSpc>
              <a:buNone/>
            </a:pPr>
            <a:r>
              <a:rPr lang="en-US" sz="1800" dirty="0">
                <a:solidFill>
                  <a:srgbClr val="1517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~3,0–4,5M</a:t>
            </a:r>
            <a:endParaRPr lang="en-US" sz="1800" dirty="0"/>
          </a:p>
        </p:txBody>
      </p:sp>
      <p:sp>
        <p:nvSpPr>
          <p:cNvPr id="94" name="Shape 92"/>
          <p:cNvSpPr/>
          <p:nvPr/>
        </p:nvSpPr>
        <p:spPr>
          <a:xfrm>
            <a:off x="3440162" y="7503468"/>
            <a:ext cx="1339304" cy="9525"/>
          </a:xfrm>
          <a:prstGeom prst="rect">
            <a:avLst/>
          </a:prstGeom>
          <a:solidFill>
            <a:srgbClr val="D9D4C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5" name="Text 93"/>
          <p:cNvSpPr/>
          <p:nvPr/>
        </p:nvSpPr>
        <p:spPr>
          <a:xfrm>
            <a:off x="3497312" y="7057727"/>
            <a:ext cx="1148804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45000"/>
              </a:lnSpc>
              <a:buNone/>
            </a:pPr>
            <a:r>
              <a:rPr lang="en-US" sz="1800" dirty="0">
                <a:solidFill>
                  <a:srgbClr val="1517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</a:t>
            </a:r>
            <a:endParaRPr lang="en-US" sz="1800" dirty="0"/>
          </a:p>
        </p:txBody>
      </p:sp>
      <p:sp>
        <p:nvSpPr>
          <p:cNvPr id="96" name="Shape 94"/>
          <p:cNvSpPr/>
          <p:nvPr/>
        </p:nvSpPr>
        <p:spPr>
          <a:xfrm>
            <a:off x="4779466" y="7503468"/>
            <a:ext cx="1339304" cy="9525"/>
          </a:xfrm>
          <a:prstGeom prst="rect">
            <a:avLst/>
          </a:prstGeom>
          <a:solidFill>
            <a:srgbClr val="D9D4C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7" name="Text 95"/>
          <p:cNvSpPr/>
          <p:nvPr/>
        </p:nvSpPr>
        <p:spPr>
          <a:xfrm>
            <a:off x="4836616" y="7057727"/>
            <a:ext cx="1148804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45000"/>
              </a:lnSpc>
              <a:buNone/>
            </a:pPr>
            <a:r>
              <a:rPr lang="en-US" sz="1800" dirty="0">
                <a:solidFill>
                  <a:srgbClr val="1517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</a:t>
            </a:r>
            <a:endParaRPr lang="en-US" sz="1800" dirty="0"/>
          </a:p>
        </p:txBody>
      </p:sp>
      <p:sp>
        <p:nvSpPr>
          <p:cNvPr id="98" name="Shape 96"/>
          <p:cNvSpPr/>
          <p:nvPr/>
        </p:nvSpPr>
        <p:spPr>
          <a:xfrm>
            <a:off x="6118771" y="7503468"/>
            <a:ext cx="1797397" cy="9525"/>
          </a:xfrm>
          <a:prstGeom prst="rect">
            <a:avLst/>
          </a:prstGeom>
          <a:solidFill>
            <a:srgbClr val="D9D4C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9" name="Text 97"/>
          <p:cNvSpPr/>
          <p:nvPr/>
        </p:nvSpPr>
        <p:spPr>
          <a:xfrm>
            <a:off x="6175921" y="7057727"/>
            <a:ext cx="1606897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45000"/>
              </a:lnSpc>
              <a:buNone/>
            </a:pPr>
            <a:r>
              <a:rPr lang="en-US" sz="1800" dirty="0">
                <a:solidFill>
                  <a:srgbClr val="1517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</a:t>
            </a:r>
            <a:endParaRPr lang="en-US" sz="1800" dirty="0"/>
          </a:p>
        </p:txBody>
      </p:sp>
      <p:sp>
        <p:nvSpPr>
          <p:cNvPr id="100" name="Shape 98"/>
          <p:cNvSpPr/>
          <p:nvPr/>
        </p:nvSpPr>
        <p:spPr>
          <a:xfrm>
            <a:off x="7916168" y="7503468"/>
            <a:ext cx="2103239" cy="9525"/>
          </a:xfrm>
          <a:prstGeom prst="rect">
            <a:avLst/>
          </a:prstGeom>
          <a:solidFill>
            <a:srgbClr val="D9D4C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1" name="Text 99"/>
          <p:cNvSpPr/>
          <p:nvPr/>
        </p:nvSpPr>
        <p:spPr>
          <a:xfrm>
            <a:off x="7973318" y="7057727"/>
            <a:ext cx="1912739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45000"/>
              </a:lnSpc>
              <a:buNone/>
            </a:pPr>
            <a:r>
              <a:rPr lang="en-US" sz="1800" dirty="0">
                <a:solidFill>
                  <a:srgbClr val="1517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~50 / 50</a:t>
            </a:r>
            <a:endParaRPr lang="en-US" sz="1800" dirty="0"/>
          </a:p>
        </p:txBody>
      </p:sp>
      <p:sp>
        <p:nvSpPr>
          <p:cNvPr id="102" name="Shape 100"/>
          <p:cNvSpPr/>
          <p:nvPr/>
        </p:nvSpPr>
        <p:spPr>
          <a:xfrm>
            <a:off x="914400" y="8073033"/>
            <a:ext cx="881063" cy="9525"/>
          </a:xfrm>
          <a:prstGeom prst="rect">
            <a:avLst/>
          </a:prstGeom>
          <a:solidFill>
            <a:srgbClr val="D9D4C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3" name="Text 101"/>
          <p:cNvSpPr/>
          <p:nvPr/>
        </p:nvSpPr>
        <p:spPr>
          <a:xfrm>
            <a:off x="1047750" y="7627293"/>
            <a:ext cx="690563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1517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</a:t>
            </a:r>
            <a:endParaRPr lang="en-US" sz="1800" dirty="0"/>
          </a:p>
        </p:txBody>
      </p:sp>
      <p:sp>
        <p:nvSpPr>
          <p:cNvPr id="104" name="Shape 102"/>
          <p:cNvSpPr/>
          <p:nvPr/>
        </p:nvSpPr>
        <p:spPr>
          <a:xfrm>
            <a:off x="1795463" y="8073033"/>
            <a:ext cx="1644700" cy="9525"/>
          </a:xfrm>
          <a:prstGeom prst="rect">
            <a:avLst/>
          </a:prstGeom>
          <a:solidFill>
            <a:srgbClr val="D9D4C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5" name="Text 103"/>
          <p:cNvSpPr/>
          <p:nvPr/>
        </p:nvSpPr>
        <p:spPr>
          <a:xfrm>
            <a:off x="1852612" y="7627293"/>
            <a:ext cx="1454200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45000"/>
              </a:lnSpc>
              <a:buNone/>
            </a:pPr>
            <a:r>
              <a:rPr lang="en-US" sz="1800" dirty="0">
                <a:solidFill>
                  <a:srgbClr val="1517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~3,0–4,5M</a:t>
            </a:r>
            <a:endParaRPr lang="en-US" sz="1800" dirty="0"/>
          </a:p>
        </p:txBody>
      </p:sp>
      <p:sp>
        <p:nvSpPr>
          <p:cNvPr id="106" name="Shape 104"/>
          <p:cNvSpPr/>
          <p:nvPr/>
        </p:nvSpPr>
        <p:spPr>
          <a:xfrm>
            <a:off x="3440162" y="8073033"/>
            <a:ext cx="1339304" cy="9525"/>
          </a:xfrm>
          <a:prstGeom prst="rect">
            <a:avLst/>
          </a:prstGeom>
          <a:solidFill>
            <a:srgbClr val="D9D4C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7" name="Text 105"/>
          <p:cNvSpPr/>
          <p:nvPr/>
        </p:nvSpPr>
        <p:spPr>
          <a:xfrm>
            <a:off x="3497312" y="7627293"/>
            <a:ext cx="1148804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45000"/>
              </a:lnSpc>
              <a:buNone/>
            </a:pPr>
            <a:r>
              <a:rPr lang="en-US" sz="1800" dirty="0">
                <a:solidFill>
                  <a:srgbClr val="1517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</a:t>
            </a:r>
            <a:endParaRPr lang="en-US" sz="1800" dirty="0"/>
          </a:p>
        </p:txBody>
      </p:sp>
      <p:sp>
        <p:nvSpPr>
          <p:cNvPr id="108" name="Shape 106"/>
          <p:cNvSpPr/>
          <p:nvPr/>
        </p:nvSpPr>
        <p:spPr>
          <a:xfrm>
            <a:off x="4779466" y="8073033"/>
            <a:ext cx="1339304" cy="9525"/>
          </a:xfrm>
          <a:prstGeom prst="rect">
            <a:avLst/>
          </a:prstGeom>
          <a:solidFill>
            <a:srgbClr val="D9D4C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9" name="Text 107"/>
          <p:cNvSpPr/>
          <p:nvPr/>
        </p:nvSpPr>
        <p:spPr>
          <a:xfrm>
            <a:off x="4836616" y="7627293"/>
            <a:ext cx="1148804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45000"/>
              </a:lnSpc>
              <a:buNone/>
            </a:pPr>
            <a:r>
              <a:rPr lang="en-US" sz="1800" dirty="0">
                <a:solidFill>
                  <a:srgbClr val="1517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</a:t>
            </a:r>
            <a:endParaRPr lang="en-US" sz="1800" dirty="0"/>
          </a:p>
        </p:txBody>
      </p:sp>
      <p:sp>
        <p:nvSpPr>
          <p:cNvPr id="110" name="Shape 108"/>
          <p:cNvSpPr/>
          <p:nvPr/>
        </p:nvSpPr>
        <p:spPr>
          <a:xfrm>
            <a:off x="6118771" y="8073033"/>
            <a:ext cx="1797397" cy="9525"/>
          </a:xfrm>
          <a:prstGeom prst="rect">
            <a:avLst/>
          </a:prstGeom>
          <a:solidFill>
            <a:srgbClr val="D9D4C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1" name="Text 109"/>
          <p:cNvSpPr/>
          <p:nvPr/>
        </p:nvSpPr>
        <p:spPr>
          <a:xfrm>
            <a:off x="6175921" y="7627293"/>
            <a:ext cx="1606897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45000"/>
              </a:lnSpc>
              <a:buNone/>
            </a:pPr>
            <a:r>
              <a:rPr lang="en-US" sz="1800" dirty="0">
                <a:solidFill>
                  <a:srgbClr val="1517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</a:t>
            </a:r>
            <a:endParaRPr lang="en-US" sz="1800" dirty="0"/>
          </a:p>
        </p:txBody>
      </p:sp>
      <p:sp>
        <p:nvSpPr>
          <p:cNvPr id="112" name="Shape 110"/>
          <p:cNvSpPr/>
          <p:nvPr/>
        </p:nvSpPr>
        <p:spPr>
          <a:xfrm>
            <a:off x="7916168" y="8073033"/>
            <a:ext cx="2103239" cy="9525"/>
          </a:xfrm>
          <a:prstGeom prst="rect">
            <a:avLst/>
          </a:prstGeom>
          <a:solidFill>
            <a:srgbClr val="D9D4C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3" name="Text 111"/>
          <p:cNvSpPr/>
          <p:nvPr/>
        </p:nvSpPr>
        <p:spPr>
          <a:xfrm>
            <a:off x="7973318" y="7627293"/>
            <a:ext cx="1912739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45000"/>
              </a:lnSpc>
              <a:buNone/>
            </a:pPr>
            <a:r>
              <a:rPr lang="en-US" sz="1800" dirty="0">
                <a:solidFill>
                  <a:srgbClr val="1517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~50 / 50</a:t>
            </a:r>
            <a:endParaRPr lang="en-US" sz="1800" dirty="0"/>
          </a:p>
        </p:txBody>
      </p:sp>
      <p:sp>
        <p:nvSpPr>
          <p:cNvPr id="114" name="Shape 112"/>
          <p:cNvSpPr/>
          <p:nvPr/>
        </p:nvSpPr>
        <p:spPr>
          <a:xfrm>
            <a:off x="914400" y="8082558"/>
            <a:ext cx="881063" cy="569565"/>
          </a:xfrm>
          <a:prstGeom prst="rect">
            <a:avLst/>
          </a:prstGeom>
          <a:solidFill>
            <a:srgbClr val="F2E4D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5" name="Shape 113"/>
          <p:cNvSpPr/>
          <p:nvPr/>
        </p:nvSpPr>
        <p:spPr>
          <a:xfrm>
            <a:off x="914400" y="8642598"/>
            <a:ext cx="881063" cy="9525"/>
          </a:xfrm>
          <a:prstGeom prst="rect">
            <a:avLst/>
          </a:prstGeom>
          <a:solidFill>
            <a:srgbClr val="D9D4C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6" name="Text 114"/>
          <p:cNvSpPr/>
          <p:nvPr/>
        </p:nvSpPr>
        <p:spPr>
          <a:xfrm>
            <a:off x="1047750" y="8196858"/>
            <a:ext cx="690563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B865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</a:t>
            </a:r>
            <a:endParaRPr lang="en-US" sz="1800" dirty="0"/>
          </a:p>
        </p:txBody>
      </p:sp>
      <p:sp>
        <p:nvSpPr>
          <p:cNvPr id="117" name="Shape 115"/>
          <p:cNvSpPr/>
          <p:nvPr/>
        </p:nvSpPr>
        <p:spPr>
          <a:xfrm>
            <a:off x="1795463" y="8082558"/>
            <a:ext cx="1644700" cy="569565"/>
          </a:xfrm>
          <a:prstGeom prst="rect">
            <a:avLst/>
          </a:prstGeom>
          <a:solidFill>
            <a:srgbClr val="F2E4D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8" name="Shape 116"/>
          <p:cNvSpPr/>
          <p:nvPr/>
        </p:nvSpPr>
        <p:spPr>
          <a:xfrm>
            <a:off x="1795463" y="8642598"/>
            <a:ext cx="1644700" cy="9525"/>
          </a:xfrm>
          <a:prstGeom prst="rect">
            <a:avLst/>
          </a:prstGeom>
          <a:solidFill>
            <a:srgbClr val="D9D4C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9" name="Text 117"/>
          <p:cNvSpPr/>
          <p:nvPr/>
        </p:nvSpPr>
        <p:spPr>
          <a:xfrm>
            <a:off x="1852612" y="8196858"/>
            <a:ext cx="1454200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45000"/>
              </a:lnSpc>
              <a:buNone/>
            </a:pPr>
            <a:r>
              <a:rPr lang="en-US" sz="1800" dirty="0">
                <a:solidFill>
                  <a:srgbClr val="1517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~3,0–4,5M</a:t>
            </a:r>
            <a:endParaRPr lang="en-US" sz="1800" dirty="0"/>
          </a:p>
        </p:txBody>
      </p:sp>
      <p:sp>
        <p:nvSpPr>
          <p:cNvPr id="120" name="Shape 118"/>
          <p:cNvSpPr/>
          <p:nvPr/>
        </p:nvSpPr>
        <p:spPr>
          <a:xfrm>
            <a:off x="3440162" y="8082558"/>
            <a:ext cx="1339304" cy="569565"/>
          </a:xfrm>
          <a:prstGeom prst="rect">
            <a:avLst/>
          </a:prstGeom>
          <a:solidFill>
            <a:srgbClr val="F2E4D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1" name="Shape 119"/>
          <p:cNvSpPr/>
          <p:nvPr/>
        </p:nvSpPr>
        <p:spPr>
          <a:xfrm>
            <a:off x="3440162" y="8642598"/>
            <a:ext cx="1339304" cy="9525"/>
          </a:xfrm>
          <a:prstGeom prst="rect">
            <a:avLst/>
          </a:prstGeom>
          <a:solidFill>
            <a:srgbClr val="D9D4C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2" name="Text 120"/>
          <p:cNvSpPr/>
          <p:nvPr/>
        </p:nvSpPr>
        <p:spPr>
          <a:xfrm>
            <a:off x="3497312" y="8196858"/>
            <a:ext cx="1148804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1517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11</a:t>
            </a:r>
            <a:endParaRPr lang="en-US" sz="1800" dirty="0"/>
          </a:p>
        </p:txBody>
      </p:sp>
      <p:sp>
        <p:nvSpPr>
          <p:cNvPr id="123" name="Shape 121"/>
          <p:cNvSpPr/>
          <p:nvPr/>
        </p:nvSpPr>
        <p:spPr>
          <a:xfrm>
            <a:off x="4779466" y="8082558"/>
            <a:ext cx="1339304" cy="569565"/>
          </a:xfrm>
          <a:prstGeom prst="rect">
            <a:avLst/>
          </a:prstGeom>
          <a:solidFill>
            <a:srgbClr val="F2E4D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4" name="Shape 122"/>
          <p:cNvSpPr/>
          <p:nvPr/>
        </p:nvSpPr>
        <p:spPr>
          <a:xfrm>
            <a:off x="4779466" y="8642598"/>
            <a:ext cx="1339304" cy="9525"/>
          </a:xfrm>
          <a:prstGeom prst="rect">
            <a:avLst/>
          </a:prstGeom>
          <a:solidFill>
            <a:srgbClr val="D9D4C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5" name="Text 123"/>
          <p:cNvSpPr/>
          <p:nvPr/>
        </p:nvSpPr>
        <p:spPr>
          <a:xfrm>
            <a:off x="4836616" y="8196858"/>
            <a:ext cx="1148804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45000"/>
              </a:lnSpc>
              <a:buNone/>
            </a:pPr>
            <a:r>
              <a:rPr lang="en-US" sz="1800" dirty="0">
                <a:solidFill>
                  <a:srgbClr val="1517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</a:t>
            </a:r>
            <a:endParaRPr lang="en-US" sz="1800" dirty="0"/>
          </a:p>
        </p:txBody>
      </p:sp>
      <p:sp>
        <p:nvSpPr>
          <p:cNvPr id="126" name="Shape 124"/>
          <p:cNvSpPr/>
          <p:nvPr/>
        </p:nvSpPr>
        <p:spPr>
          <a:xfrm>
            <a:off x="6118771" y="8082558"/>
            <a:ext cx="1797397" cy="569565"/>
          </a:xfrm>
          <a:prstGeom prst="rect">
            <a:avLst/>
          </a:prstGeom>
          <a:solidFill>
            <a:srgbClr val="F2E4D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7" name="Shape 125"/>
          <p:cNvSpPr/>
          <p:nvPr/>
        </p:nvSpPr>
        <p:spPr>
          <a:xfrm>
            <a:off x="6118771" y="8642598"/>
            <a:ext cx="1797397" cy="9525"/>
          </a:xfrm>
          <a:prstGeom prst="rect">
            <a:avLst/>
          </a:prstGeom>
          <a:solidFill>
            <a:srgbClr val="D9D4C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8" name="Text 126"/>
          <p:cNvSpPr/>
          <p:nvPr/>
        </p:nvSpPr>
        <p:spPr>
          <a:xfrm>
            <a:off x="6175921" y="8196858"/>
            <a:ext cx="1606897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45000"/>
              </a:lnSpc>
              <a:buNone/>
            </a:pPr>
            <a:r>
              <a:rPr lang="en-US" sz="1800" dirty="0">
                <a:solidFill>
                  <a:srgbClr val="1517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</a:t>
            </a:r>
            <a:endParaRPr lang="en-US" sz="1800" dirty="0"/>
          </a:p>
        </p:txBody>
      </p:sp>
      <p:sp>
        <p:nvSpPr>
          <p:cNvPr id="129" name="Shape 127"/>
          <p:cNvSpPr/>
          <p:nvPr/>
        </p:nvSpPr>
        <p:spPr>
          <a:xfrm>
            <a:off x="7916168" y="8082558"/>
            <a:ext cx="2103239" cy="569565"/>
          </a:xfrm>
          <a:prstGeom prst="rect">
            <a:avLst/>
          </a:prstGeom>
          <a:solidFill>
            <a:srgbClr val="F2E4D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0" name="Shape 128"/>
          <p:cNvSpPr/>
          <p:nvPr/>
        </p:nvSpPr>
        <p:spPr>
          <a:xfrm>
            <a:off x="7916168" y="8642598"/>
            <a:ext cx="2103239" cy="9525"/>
          </a:xfrm>
          <a:prstGeom prst="rect">
            <a:avLst/>
          </a:prstGeom>
          <a:solidFill>
            <a:srgbClr val="D9D4C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1" name="Text 129"/>
          <p:cNvSpPr/>
          <p:nvPr/>
        </p:nvSpPr>
        <p:spPr>
          <a:xfrm>
            <a:off x="7973318" y="8196858"/>
            <a:ext cx="1912739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45000"/>
              </a:lnSpc>
              <a:buNone/>
            </a:pPr>
            <a:r>
              <a:rPr lang="en-US" sz="1800" dirty="0">
                <a:solidFill>
                  <a:srgbClr val="1517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~50 / 50</a:t>
            </a:r>
            <a:endParaRPr lang="en-US" sz="1800" dirty="0"/>
          </a:p>
        </p:txBody>
      </p:sp>
      <p:sp>
        <p:nvSpPr>
          <p:cNvPr id="132" name="Text 130"/>
          <p:cNvSpPr/>
          <p:nvPr/>
        </p:nvSpPr>
        <p:spPr>
          <a:xfrm>
            <a:off x="10629007" y="2961233"/>
            <a:ext cx="6946931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144" dirty="0">
                <a:solidFill>
                  <a:srgbClr val="6B6F7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ACHADOS</a:t>
            </a:r>
            <a:endParaRPr lang="en-US" sz="1800" dirty="0"/>
          </a:p>
        </p:txBody>
      </p:sp>
      <p:sp>
        <p:nvSpPr>
          <p:cNvPr id="133" name="Text 131"/>
          <p:cNvSpPr/>
          <p:nvPr/>
        </p:nvSpPr>
        <p:spPr>
          <a:xfrm>
            <a:off x="10895707" y="3483173"/>
            <a:ext cx="6680231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E3A5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9 usuários </a:t>
            </a:r>
            <a:r>
              <a:rPr lang="en-US" sz="1950" dirty="0">
                <a:solidFill>
                  <a:srgbClr val="1517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(a–i), volume balanceado entre </a:t>
            </a:r>
            <a:r>
              <a:rPr lang="en-US" sz="1950" dirty="0">
                <a:solidFill>
                  <a:srgbClr val="1517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~3,0M e ~4,5M </a:t>
            </a:r>
            <a:r>
              <a:rPr lang="en-US" sz="1950" dirty="0">
                <a:solidFill>
                  <a:srgbClr val="1517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registros.</a:t>
            </a:r>
            <a:endParaRPr lang="en-US" sz="1950" dirty="0"/>
          </a:p>
        </p:txBody>
      </p:sp>
      <p:sp>
        <p:nvSpPr>
          <p:cNvPr id="134" name="Text 132"/>
          <p:cNvSpPr/>
          <p:nvPr/>
        </p:nvSpPr>
        <p:spPr>
          <a:xfrm>
            <a:off x="10895707" y="4385965"/>
            <a:ext cx="6680231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1517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Todos cumpriram o protocolo: </a:t>
            </a:r>
            <a:r>
              <a:rPr lang="en-US" sz="1950" b="1" dirty="0">
                <a:solidFill>
                  <a:srgbClr val="1E3A5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 atividades </a:t>
            </a:r>
            <a:r>
              <a:rPr lang="en-US" sz="1950" dirty="0">
                <a:solidFill>
                  <a:srgbClr val="1517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× </a:t>
            </a:r>
            <a:r>
              <a:rPr lang="en-US" sz="1950" b="1" dirty="0">
                <a:solidFill>
                  <a:srgbClr val="1E3A5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 modelos</a:t>
            </a:r>
            <a:r>
              <a:rPr lang="en-US" sz="1950" dirty="0">
                <a:solidFill>
                  <a:srgbClr val="1517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</a:t>
            </a:r>
            <a:endParaRPr lang="en-US" sz="1950" dirty="0"/>
          </a:p>
        </p:txBody>
      </p:sp>
      <p:sp>
        <p:nvSpPr>
          <p:cNvPr id="135" name="Text 133"/>
          <p:cNvSpPr/>
          <p:nvPr/>
        </p:nvSpPr>
        <p:spPr>
          <a:xfrm>
            <a:off x="10895707" y="4942136"/>
            <a:ext cx="6680231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1517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Usuário </a:t>
            </a:r>
            <a:r>
              <a:rPr lang="en-US" sz="1950" b="1" dirty="0">
                <a:solidFill>
                  <a:srgbClr val="1E3A5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"i" </a:t>
            </a:r>
            <a:r>
              <a:rPr lang="en-US" sz="1950" dirty="0">
                <a:solidFill>
                  <a:srgbClr val="1517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operou </a:t>
            </a:r>
            <a:r>
              <a:rPr lang="en-US" sz="1950" dirty="0">
                <a:solidFill>
                  <a:srgbClr val="1517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11 devices </a:t>
            </a:r>
            <a:r>
              <a:rPr lang="en-US" sz="1950" dirty="0">
                <a:solidFill>
                  <a:srgbClr val="1517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vs </a:t>
            </a:r>
            <a:r>
              <a:rPr lang="en-US" sz="1950" dirty="0">
                <a:solidFill>
                  <a:srgbClr val="1517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 </a:t>
            </a:r>
            <a:r>
              <a:rPr lang="en-US" sz="1950" dirty="0">
                <a:solidFill>
                  <a:srgbClr val="1517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dos demais — anomalia investigada e documentada.</a:t>
            </a:r>
            <a:endParaRPr lang="en-US" sz="1950" dirty="0"/>
          </a:p>
        </p:txBody>
      </p:sp>
      <p:sp>
        <p:nvSpPr>
          <p:cNvPr id="136" name="Shape 134"/>
          <p:cNvSpPr/>
          <p:nvPr/>
        </p:nvSpPr>
        <p:spPr>
          <a:xfrm>
            <a:off x="10629007" y="5940177"/>
            <a:ext cx="6744593" cy="9525"/>
          </a:xfrm>
          <a:prstGeom prst="rect">
            <a:avLst/>
          </a:prstGeom>
          <a:solidFill>
            <a:srgbClr val="D9D4C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7" name="Text 135"/>
          <p:cNvSpPr/>
          <p:nvPr/>
        </p:nvSpPr>
        <p:spPr>
          <a:xfrm>
            <a:off x="10629007" y="6140202"/>
            <a:ext cx="6946931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144" dirty="0">
                <a:solidFill>
                  <a:srgbClr val="6B6F7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OPCIONAIS ENTREGUES</a:t>
            </a:r>
            <a:endParaRPr lang="en-US" sz="1800" dirty="0"/>
          </a:p>
        </p:txBody>
      </p:sp>
      <p:sp>
        <p:nvSpPr>
          <p:cNvPr id="138" name="Text 136"/>
          <p:cNvSpPr/>
          <p:nvPr/>
        </p:nvSpPr>
        <p:spPr>
          <a:xfrm>
            <a:off x="10629007" y="6574482"/>
            <a:ext cx="6946931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3A3D4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Timestamps convertidos para </a:t>
            </a:r>
            <a:r>
              <a:rPr lang="en-US" sz="1800" dirty="0">
                <a:solidFill>
                  <a:srgbClr val="3A3D4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data legível </a:t>
            </a:r>
            <a:r>
              <a:rPr lang="en-US" sz="1800" dirty="0">
                <a:solidFill>
                  <a:srgbClr val="3A3D4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na camada FINAL.</a:t>
            </a:r>
            <a:endParaRPr lang="en-US" sz="1800" dirty="0"/>
          </a:p>
        </p:txBody>
      </p:sp>
      <p:sp>
        <p:nvSpPr>
          <p:cNvPr id="139" name="Text 137"/>
          <p:cNvSpPr/>
          <p:nvPr/>
        </p:nvSpPr>
        <p:spPr>
          <a:xfrm>
            <a:off x="10629007" y="6989713"/>
            <a:ext cx="6946931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3A3D4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Intervalo entre registros consecutivos via </a:t>
            </a:r>
            <a:r>
              <a:rPr lang="en-US" sz="1800" dirty="0">
                <a:solidFill>
                  <a:srgbClr val="3A3D4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window lag </a:t>
            </a:r>
            <a:r>
              <a:rPr lang="en-US" sz="1800" dirty="0">
                <a:solidFill>
                  <a:srgbClr val="3A3D4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por User+Device, ordenação determinística.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341090"/>
            <a:ext cx="16459200" cy="9525"/>
          </a:xfrm>
          <a:prstGeom prst="rect">
            <a:avLst/>
          </a:prstGeom>
          <a:solidFill>
            <a:srgbClr val="D9D4C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914400" y="838200"/>
            <a:ext cx="5123664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6B6F7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 / 05 — Performance &amp; fechamento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838063" y="838200"/>
            <a:ext cx="4671603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6B6F7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Opcional 3 · escala de produção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884015"/>
            <a:ext cx="16952976" cy="6581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650" b="1" kern="0" spc="-93" dirty="0">
                <a:solidFill>
                  <a:srgbClr val="1517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Decisões de performance e o que muda em produção.</a:t>
            </a:r>
            <a:endParaRPr lang="en-US" sz="4650" dirty="0"/>
          </a:p>
        </p:txBody>
      </p:sp>
      <p:sp>
        <p:nvSpPr>
          <p:cNvPr id="6" name="Shape 4"/>
          <p:cNvSpPr/>
          <p:nvPr/>
        </p:nvSpPr>
        <p:spPr>
          <a:xfrm>
            <a:off x="914400" y="2961233"/>
            <a:ext cx="5334000" cy="4805511"/>
          </a:xfrm>
          <a:prstGeom prst="roundRect">
            <a:avLst>
              <a:gd name="adj" fmla="val 1189"/>
            </a:avLst>
          </a:prstGeom>
          <a:solidFill>
            <a:srgbClr val="FFFFFF"/>
          </a:solidFill>
          <a:ln w="9525">
            <a:solidFill>
              <a:srgbClr val="D9D4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1190625" y="3237458"/>
            <a:ext cx="4924997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144" dirty="0">
                <a:solidFill>
                  <a:srgbClr val="1E3A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 · NO NOTEBOOK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90625" y="3671739"/>
            <a:ext cx="4924997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950" b="1" kern="0" spc="-19" dirty="0">
                <a:solidFill>
                  <a:srgbClr val="1517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Schema explícito + cache em DF </a:t>
            </a:r>
            <a:r>
              <a:rPr lang="en-US" sz="1950" b="1" kern="0" spc="-19" dirty="0" err="1">
                <a:solidFill>
                  <a:srgbClr val="1517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reusado</a:t>
            </a:r>
            <a:r>
              <a:rPr lang="en-US" sz="1950" b="1" kern="0" spc="-19" dirty="0">
                <a:solidFill>
                  <a:srgbClr val="1517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190625" y="4114651"/>
            <a:ext cx="4924997" cy="9181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3A3D4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Schema declarado evita dupla leitura (inferência + leitura real). </a:t>
            </a:r>
            <a:r>
              <a:rPr lang="en-US" sz="1650" dirty="0">
                <a:solidFill>
                  <a:srgbClr val="3A3D4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cache() </a:t>
            </a:r>
            <a:r>
              <a:rPr lang="en-US" sz="1650" dirty="0">
                <a:solidFill>
                  <a:srgbClr val="3A3D4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aplicado nos DataFrames consultados múltiplas vezes nas tarefas 3 e 4.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6477000" y="2961233"/>
            <a:ext cx="5334000" cy="4805511"/>
          </a:xfrm>
          <a:prstGeom prst="roundRect">
            <a:avLst>
              <a:gd name="adj" fmla="val 1189"/>
            </a:avLst>
          </a:prstGeom>
          <a:solidFill>
            <a:srgbClr val="FFFFFF"/>
          </a:solidFill>
          <a:ln w="9525">
            <a:solidFill>
              <a:srgbClr val="D9D4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6753225" y="3237458"/>
            <a:ext cx="4924997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144" dirty="0">
                <a:solidFill>
                  <a:srgbClr val="1E3A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 · DATA </a:t>
            </a:r>
            <a:r>
              <a:rPr lang="en-US" kern="0" spc="144" dirty="0">
                <a:solidFill>
                  <a:srgbClr val="1E3A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QUALITY TEST 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681501" y="3661772"/>
            <a:ext cx="4924997" cy="2288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25000"/>
              </a:lnSpc>
            </a:pPr>
            <a:r>
              <a:rPr lang="pt-BR" sz="1700" b="1" dirty="0"/>
              <a:t>Validações como contrato, não checagem manual</a:t>
            </a:r>
            <a:r>
              <a:rPr lang="pt-BR" sz="1700" dirty="0"/>
              <a:t> </a:t>
            </a:r>
            <a:endParaRPr lang="pt-BR" sz="2000" dirty="0">
              <a:solidFill>
                <a:srgbClr val="3A3D44"/>
              </a:solidFill>
              <a:latin typeface="IBM Plex Sans" pitchFamily="34" charset="0"/>
            </a:endParaRPr>
          </a:p>
          <a:p>
            <a:pPr>
              <a:lnSpc>
                <a:spcPct val="125000"/>
              </a:lnSpc>
            </a:pPr>
            <a:r>
              <a:rPr lang="pt-BR" sz="1500" dirty="0">
                <a:solidFill>
                  <a:srgbClr val="3A3D44"/>
                </a:solidFill>
                <a:latin typeface="IBM Plex Sans" pitchFamily="34" charset="0"/>
              </a:rPr>
              <a:t>As regras que apliquei no notebook ("</a:t>
            </a:r>
            <a:r>
              <a:rPr lang="pt-BR" sz="1500" dirty="0" err="1">
                <a:solidFill>
                  <a:srgbClr val="3A3D44"/>
                </a:solidFill>
                <a:latin typeface="IBM Plex Sans" pitchFamily="34" charset="0"/>
              </a:rPr>
              <a:t>null</a:t>
            </a:r>
            <a:r>
              <a:rPr lang="pt-BR" sz="1500" dirty="0">
                <a:solidFill>
                  <a:srgbClr val="3A3D44"/>
                </a:solidFill>
                <a:latin typeface="IBM Plex Sans" pitchFamily="34" charset="0"/>
              </a:rPr>
              <a:t>"→NULL, de-</a:t>
            </a:r>
            <a:r>
              <a:rPr lang="pt-BR" sz="1500" dirty="0" err="1">
                <a:solidFill>
                  <a:srgbClr val="3A3D44"/>
                </a:solidFill>
                <a:latin typeface="IBM Plex Sans" pitchFamily="34" charset="0"/>
              </a:rPr>
              <a:t>dup</a:t>
            </a:r>
            <a:r>
              <a:rPr lang="pt-BR" sz="1500" dirty="0">
                <a:solidFill>
                  <a:srgbClr val="3A3D44"/>
                </a:solidFill>
                <a:latin typeface="IBM Plex Sans" pitchFamily="34" charset="0"/>
              </a:rPr>
              <a:t> por chave, magnitude do </a:t>
            </a:r>
            <a:r>
              <a:rPr lang="pt-BR" sz="1500" dirty="0" err="1">
                <a:solidFill>
                  <a:srgbClr val="3A3D44"/>
                </a:solidFill>
                <a:latin typeface="IBM Plex Sans" pitchFamily="34" charset="0"/>
              </a:rPr>
              <a:t>Creation_Time</a:t>
            </a:r>
            <a:r>
              <a:rPr lang="pt-BR" sz="1500" dirty="0">
                <a:solidFill>
                  <a:srgbClr val="3A3D44"/>
                </a:solidFill>
                <a:latin typeface="IBM Plex Sans" pitchFamily="34" charset="0"/>
              </a:rPr>
              <a:t>) viram </a:t>
            </a:r>
            <a:r>
              <a:rPr lang="pt-BR" sz="1500" dirty="0" err="1">
                <a:solidFill>
                  <a:srgbClr val="3A3D44"/>
                </a:solidFill>
                <a:latin typeface="IBM Plex Sans" pitchFamily="34" charset="0"/>
              </a:rPr>
              <a:t>expectations</a:t>
            </a:r>
            <a:r>
              <a:rPr lang="pt-BR" sz="1500" dirty="0">
                <a:solidFill>
                  <a:srgbClr val="3A3D44"/>
                </a:solidFill>
                <a:latin typeface="IBM Plex Sans" pitchFamily="34" charset="0"/>
              </a:rPr>
              <a:t> </a:t>
            </a:r>
            <a:r>
              <a:rPr lang="pt-BR" sz="1500" dirty="0" err="1">
                <a:solidFill>
                  <a:srgbClr val="3A3D44"/>
                </a:solidFill>
                <a:latin typeface="IBM Plex Sans" pitchFamily="34" charset="0"/>
              </a:rPr>
              <a:t>versionadas</a:t>
            </a:r>
            <a:r>
              <a:rPr lang="pt-BR" sz="1500" dirty="0">
                <a:solidFill>
                  <a:srgbClr val="3A3D44"/>
                </a:solidFill>
                <a:latin typeface="IBM Plex Sans" pitchFamily="34" charset="0"/>
              </a:rPr>
              <a:t> que falham o pipeline cedo, antes da camada analítica.</a:t>
            </a:r>
            <a:endParaRPr lang="en-US" sz="1500" dirty="0">
              <a:solidFill>
                <a:srgbClr val="3A3D44"/>
              </a:solidFill>
              <a:latin typeface="IBM Plex Sans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12039600" y="2961233"/>
            <a:ext cx="5334000" cy="4805511"/>
          </a:xfrm>
          <a:prstGeom prst="roundRect">
            <a:avLst>
              <a:gd name="adj" fmla="val 1189"/>
            </a:avLst>
          </a:prstGeom>
          <a:solidFill>
            <a:srgbClr val="15171A"/>
          </a:solidFill>
          <a:ln w="9525">
            <a:solidFill>
              <a:srgbClr val="15171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12315825" y="3237458"/>
            <a:ext cx="4924997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144" dirty="0">
                <a:solidFill>
                  <a:srgbClr val="F6F4EE">
                    <a:alpha val="6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· EM PRODUÇÃO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315825" y="3671739"/>
            <a:ext cx="4924997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950" b="1" kern="0" spc="-19" dirty="0">
                <a:solidFill>
                  <a:srgbClr val="F6F4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Delta &gt; CSV. Particionar e Z-ORDER.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2315825" y="4114651"/>
            <a:ext cx="4924997" cy="1211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F6F4EE">
                    <a:alpha val="72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Delta / Parquet </a:t>
            </a:r>
            <a:r>
              <a:rPr lang="en-US" sz="1650" dirty="0">
                <a:solidFill>
                  <a:srgbClr val="F6F4EE">
                    <a:alpha val="72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nas camadas analíticas; particionamento por </a:t>
            </a:r>
            <a:r>
              <a:rPr lang="en-US" sz="1650" dirty="0">
                <a:solidFill>
                  <a:srgbClr val="F6F4EE">
                    <a:alpha val="72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device_type / sensor</a:t>
            </a:r>
            <a:r>
              <a:rPr lang="en-US" sz="1650" dirty="0">
                <a:solidFill>
                  <a:srgbClr val="F6F4EE">
                    <a:alpha val="72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; </a:t>
            </a:r>
          </a:p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F6F4EE">
                    <a:alpha val="72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Z-Order </a:t>
            </a:r>
            <a:r>
              <a:rPr lang="en-US" sz="1650" dirty="0" err="1">
                <a:solidFill>
                  <a:srgbClr val="F6F4EE">
                    <a:alpha val="72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por</a:t>
            </a:r>
            <a:r>
              <a:rPr lang="en-US" sz="1650" dirty="0">
                <a:solidFill>
                  <a:srgbClr val="F6F4EE">
                    <a:alpha val="72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user, device 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914400" y="8033445"/>
            <a:ext cx="16459200" cy="9525"/>
          </a:xfrm>
          <a:prstGeom prst="rect">
            <a:avLst/>
          </a:prstGeom>
          <a:solidFill>
            <a:srgbClr val="D9D4C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13954707" y="8566845"/>
            <a:ext cx="3418893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r">
              <a:lnSpc>
                <a:spcPct val="145000"/>
              </a:lnSpc>
              <a:buNone/>
            </a:pPr>
            <a:r>
              <a:rPr lang="en-US" sz="1800" kern="0" spc="108" dirty="0">
                <a:solidFill>
                  <a:srgbClr val="6B6F7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FELIPE PIVA · OBRIGADO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</TotalTime>
  <Words>771</Words>
  <Application>Microsoft Office PowerPoint</Application>
  <PresentationFormat>Personalizar</PresentationFormat>
  <Paragraphs>143</Paragraphs>
  <Slides>5</Slides>
  <Notes>5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10" baseType="lpstr">
      <vt:lpstr>Arial</vt:lpstr>
      <vt:lpstr>Calibri</vt:lpstr>
      <vt:lpstr>IBM Plex Mono</vt:lpstr>
      <vt:lpstr>IBM Plex Sans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PIVA Felipe (CNH)</cp:lastModifiedBy>
  <cp:revision>4</cp:revision>
  <dcterms:created xsi:type="dcterms:W3CDTF">2026-05-21T01:51:29Z</dcterms:created>
  <dcterms:modified xsi:type="dcterms:W3CDTF">2026-05-21T16:22:32Z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feb0fb4-c8a5-4461-a7eb-fddbf6a063ea_Enabled">
    <vt:lpwstr>true</vt:lpwstr>
  </property>
  <property fmtid="{D5CDD505-2E9C-101B-9397-08002B2CF9AE}" pid="3" name="MSIP_Label_7feb0fb4-c8a5-4461-a7eb-fddbf6a063ea_SetDate">
    <vt:lpwstr>2026-05-21T14:00:29Z</vt:lpwstr>
  </property>
  <property fmtid="{D5CDD505-2E9C-101B-9397-08002B2CF9AE}" pid="4" name="MSIP_Label_7feb0fb4-c8a5-4461-a7eb-fddbf6a063ea_Method">
    <vt:lpwstr>Standard</vt:lpwstr>
  </property>
  <property fmtid="{D5CDD505-2E9C-101B-9397-08002B2CF9AE}" pid="5" name="MSIP_Label_7feb0fb4-c8a5-4461-a7eb-fddbf6a063ea_Name">
    <vt:lpwstr>General Business</vt:lpwstr>
  </property>
  <property fmtid="{D5CDD505-2E9C-101B-9397-08002B2CF9AE}" pid="6" name="MSIP_Label_7feb0fb4-c8a5-4461-a7eb-fddbf6a063ea_SiteId">
    <vt:lpwstr>79310fb0-d39b-486b-b77b-25f3e0c82a0e</vt:lpwstr>
  </property>
  <property fmtid="{D5CDD505-2E9C-101B-9397-08002B2CF9AE}" pid="7" name="MSIP_Label_7feb0fb4-c8a5-4461-a7eb-fddbf6a063ea_ActionId">
    <vt:lpwstr>5a213d42-8919-4379-bea4-69243f1e17d4</vt:lpwstr>
  </property>
  <property fmtid="{D5CDD505-2E9C-101B-9397-08002B2CF9AE}" pid="8" name="MSIP_Label_7feb0fb4-c8a5-4461-a7eb-fddbf6a063ea_ContentBits">
    <vt:lpwstr>1</vt:lpwstr>
  </property>
  <property fmtid="{D5CDD505-2E9C-101B-9397-08002B2CF9AE}" pid="9" name="MSIP_Label_7feb0fb4-c8a5-4461-a7eb-fddbf6a063ea_Tag">
    <vt:lpwstr>10, 3, 0, 1</vt:lpwstr>
  </property>
  <property fmtid="{D5CDD505-2E9C-101B-9397-08002B2CF9AE}" pid="10" name="ClassificationContentMarkingHeaderLocations">
    <vt:lpwstr>Office Theme:3</vt:lpwstr>
  </property>
  <property fmtid="{D5CDD505-2E9C-101B-9397-08002B2CF9AE}" pid="11" name="ClassificationContentMarkingHeaderText">
    <vt:lpwstr>General Business</vt:lpwstr>
  </property>
</Properties>
</file>